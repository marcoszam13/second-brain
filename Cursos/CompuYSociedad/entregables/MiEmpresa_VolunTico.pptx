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780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283464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</a:rPr>
              <a:t>VolunTico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i="1">
                <a:solidFill>
                  <a:srgbClr val="FFFFFF"/>
                </a:solidFill>
              </a:rPr>
              <a:t>"Viaja, ayuda y descubre Costa Rica"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95099" y="4903304"/>
            <a:ext cx="6401496" cy="16619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dirty="0" err="1">
                <a:solidFill>
                  <a:srgbClr val="1F4E78"/>
                </a:solidFill>
              </a:rPr>
              <a:t>Creación</a:t>
            </a:r>
            <a:r>
              <a:rPr sz="1600" dirty="0">
                <a:solidFill>
                  <a:srgbClr val="1F4E78"/>
                </a:solidFill>
              </a:rPr>
              <a:t> de </a:t>
            </a:r>
            <a:r>
              <a:rPr sz="1600" dirty="0" err="1">
                <a:solidFill>
                  <a:srgbClr val="1F4E78"/>
                </a:solidFill>
              </a:rPr>
              <a:t>una</a:t>
            </a:r>
            <a:r>
              <a:rPr sz="1600" dirty="0">
                <a:solidFill>
                  <a:srgbClr val="1F4E78"/>
                </a:solidFill>
              </a:rPr>
              <a:t> Empresa Formal </a:t>
            </a:r>
            <a:r>
              <a:rPr sz="1600" dirty="0" err="1">
                <a:solidFill>
                  <a:srgbClr val="1F4E78"/>
                </a:solidFill>
              </a:rPr>
              <a:t>en</a:t>
            </a:r>
            <a:r>
              <a:rPr sz="1600" dirty="0">
                <a:solidFill>
                  <a:srgbClr val="1F4E78"/>
                </a:solidFill>
              </a:rPr>
              <a:t> Costa Rica — </a:t>
            </a:r>
            <a:r>
              <a:rPr sz="1600" dirty="0" err="1">
                <a:solidFill>
                  <a:srgbClr val="1F4E78"/>
                </a:solidFill>
              </a:rPr>
              <a:t>Computación</a:t>
            </a:r>
            <a:r>
              <a:rPr sz="1600" dirty="0">
                <a:solidFill>
                  <a:srgbClr val="1F4E78"/>
                </a:solidFill>
              </a:rPr>
              <a:t> y Sociedad</a:t>
            </a:r>
            <a:endParaRPr lang="es-CR" sz="1600" dirty="0">
              <a:solidFill>
                <a:srgbClr val="1F4E78"/>
              </a:solidFill>
            </a:endParaRPr>
          </a:p>
          <a:p>
            <a:pPr algn="ctr"/>
            <a:endParaRPr sz="1400" dirty="0">
              <a:solidFill>
                <a:srgbClr val="1F4E78"/>
              </a:solidFill>
            </a:endParaRPr>
          </a:p>
          <a:p>
            <a:pPr algn="ctr"/>
            <a:r>
              <a:rPr lang="es-CR" sz="1200" dirty="0">
                <a:solidFill>
                  <a:srgbClr val="222222"/>
                </a:solidFill>
              </a:rPr>
              <a:t>Kendall Yael Ramírez Montero</a:t>
            </a:r>
          </a:p>
          <a:p>
            <a:pPr algn="ctr"/>
            <a:r>
              <a:rPr lang="es-CR" sz="1200" dirty="0">
                <a:solidFill>
                  <a:srgbClr val="222222"/>
                </a:solidFill>
              </a:rPr>
              <a:t>Melany Karina Bustos Cerdas</a:t>
            </a:r>
          </a:p>
          <a:p>
            <a:pPr algn="ctr"/>
            <a:r>
              <a:rPr lang="es-CR" sz="1200" dirty="0">
                <a:solidFill>
                  <a:srgbClr val="222222"/>
                </a:solidFill>
              </a:rPr>
              <a:t>María Laura Alpízar Rodríguez</a:t>
            </a:r>
          </a:p>
          <a:p>
            <a:pPr algn="ctr"/>
            <a:r>
              <a:rPr lang="es-CR" sz="1200" dirty="0">
                <a:solidFill>
                  <a:srgbClr val="222222"/>
                </a:solidFill>
              </a:rPr>
              <a:t>Angie Melissa Aguilar Alemán</a:t>
            </a:r>
          </a:p>
          <a:p>
            <a:pPr algn="ctr"/>
            <a:r>
              <a:rPr lang="es-CR" sz="1200" dirty="0">
                <a:solidFill>
                  <a:srgbClr val="222222"/>
                </a:solidFill>
              </a:rPr>
              <a:t>Rachel Vanessa Monterrey Quesada</a:t>
            </a:r>
          </a:p>
          <a:p>
            <a:pPr algn="ctr"/>
            <a:r>
              <a:rPr lang="es-CR" sz="1200" dirty="0">
                <a:solidFill>
                  <a:srgbClr val="222222"/>
                </a:solidFill>
              </a:rPr>
              <a:t>Marcos Eduardo Zamora Sánchez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4E78"/>
                </a:solidFill>
              </a:rPr>
              <a:t>1. Idea de negocio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</a:rPr>
              <a:t>• Empresa de tecnología con impacto social: plataforma web (y a futuro app móvil).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</a:rPr>
              <a:t>• Conecta a viajeros con comunidades, organizaciones sociales, proyectos ambientales y emprendimientos que necesitan colaboración.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</a:rPr>
              <a:t>• La persona recorre el país mientras hace voluntariado y recibe beneficios acordados: hospedaje, alimentación, descuentos o experiencias.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</a:rPr>
              <a:t>• Sector: tecnología + turismo social / economía colaborativa.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</a:rPr>
              <a:t>• Público objetivo: viajeros 18–40 años que buscan un turismo distinto, y organizaciones / comunidades / emprendimientos que necesitan apoyo.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88888"/>
                </a:solidFill>
              </a:rPr>
              <a:t>VolunTico — Mi Empresa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4E78"/>
                </a:solidFill>
              </a:rPr>
              <a:t>2. Problema y propuesta de valor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</a:rPr>
              <a:t>• Problema: las oportunidades de voluntariado están dispersas en redes sociales, páginas web y contacto directo con cada organización — difícil de encontrar para el viajero, difícil de difundir para la organización.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</a:rPr>
              <a:t>• Propuesta de valor: una sola plataforma que combina viajar + conocer el país + colaborar + obtener beneficios, según las condiciones de cada proyecto.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</a:rPr>
              <a:t>• Para las organizaciones: visibilidad y acceso a personas interesadas, sin gestionar su propio canal de reclutamiento de voluntarios.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88888"/>
                </a:solidFill>
              </a:rPr>
              <a:t>VolunTico — Mi Empresa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4E78"/>
                </a:solidFill>
              </a:rPr>
              <a:t>3. ¿Cómo funciona la plataforma?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</a:rPr>
              <a:t>• Búsqueda por ubicación, tipo de voluntariado, duración, beneficios y habilidades requeridas.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</a:rPr>
              <a:t>• Organizaciones publican oportunidades, indican el tipo de ayuda que necesitan y los beneficios que ofrecen.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</a:rPr>
              <a:t>• Modelo de ingresos: comisiones por servicios opcionales, planes pagos para organizaciones, proyectos a la medida, alianzas de turismo responsable y publicidad limitada.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</a:rPr>
              <a:t>• La participación en el voluntariado en sí se mantiene gratuita o de bajo costo para quien colabora.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88888"/>
                </a:solidFill>
              </a:rPr>
              <a:t>VolunTico — Mi Empresa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4E78"/>
                </a:solidFill>
              </a:rPr>
              <a:t>4. Tipo de sociedad: S.R.L.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371600"/>
          <a:ext cx="1088136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7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7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Aspecto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S.A.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S.R.L. (elegida)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Administración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Junta directiva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Gerente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Flexibilidad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Alta, pero más rígida en el día a día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Media-alta, ideal para equipos pequeños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Uso típico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Empresas grandes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PYMES y startups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Costo de constitución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Mayor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Menor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754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222"/>
                </a:solidFill>
              </a:rPr>
              <a:t>• Se elige S.R.L. por el tamaño del equipo (10 personas, un gerente), el menor costo/velocidad de constitución y la flexibilidad típica de una PYME tecnológica.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88888"/>
                </a:solidFill>
              </a:rPr>
              <a:t>VolunTico — Mi Empresa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4E78"/>
                </a:solidFill>
              </a:rPr>
              <a:t>5. Proceso legal de formalización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222222"/>
                </a:solidFill>
              </a:rPr>
              <a:t>• Registro Nacional: constitución de VolunTico S.R.L., nombramiento del gerente e inscripción del nombre comercial.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22222"/>
                </a:solidFill>
              </a:rPr>
              <a:t>• Hacienda (ATV): inscripción de la actividad económica, régimen tributario y facturación electrónica.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22222"/>
                </a:solidFill>
              </a:rPr>
              <a:t>• CCSS: inscripción patronal para reportar planilla y pagar cargas sociales de los 10 colaboradores.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22222"/>
                </a:solidFill>
              </a:rPr>
              <a:t>• INS: póliza de riesgos del trabajo (SORTE), obligatoria; se evalúa póliza patrimonial para el equipo tecnológico.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22222"/>
                </a:solidFill>
              </a:rPr>
              <a:t>• Municipalidad: patente comercial en el cantón del domicilio fiscal (ej. San José).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88888"/>
                </a:solidFill>
              </a:rPr>
              <a:t>VolunTico — Mi Empresa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4E78"/>
                </a:solidFill>
              </a:rPr>
              <a:t>6. Estructura organizacional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371600"/>
          <a:ext cx="1088136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7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7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007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Puesto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Cantidad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Salario base mensual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</a:rPr>
                        <a:t>Gerente general y alianzas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</a:rPr>
                        <a:t>₡1,200,000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</a:rPr>
                        <a:t>Desarrollador backend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</a:rPr>
                        <a:t>₡800,000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</a:rPr>
                        <a:t>Desarrollador frontend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</a:rPr>
                        <a:t>₡800,000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</a:rPr>
                        <a:t>Diseñador UX/UI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</a:rPr>
                        <a:t>₡700,000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</a:rPr>
                        <a:t>Soporte y atención al usuario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</a:rPr>
                        <a:t>₡500,000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</a:rPr>
                        <a:t>Administrativo (RR. HH. y finanzas)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</a:rPr>
                        <a:t>₡600,000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44652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88888"/>
                </a:solidFill>
              </a:rPr>
              <a:t>VolunTico — Mi Empresa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4E78"/>
                </a:solidFill>
              </a:rPr>
              <a:t>7. Cálculo de planilla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CCSS patronal: 26.67% del salario bruto anual. INS (SORTE): 2%. Aguinaldo: un mes de salario (total anual / 12).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Ejemplo (salario ₡600,000): anual ₡7,200,000 · aguinaldo ₡600,000 · CCSS ₡1,920,240 · INS ₡144,000 · costo total ₡9,864,240 por persona.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1752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4E78"/>
                </a:solidFill>
              </a:rPr>
              <a:t>Costo total de planilla del primer año (10 colaboradores): ₡120,014,920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222"/>
                </a:solidFill>
              </a:rPr>
              <a:t>• El costo real de cada colaborador es ≈1.37 veces su salario anual bruto una vez sumados aguinaldo y cargas sociales.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88888"/>
                </a:solidFill>
              </a:rPr>
              <a:t>VolunTico — Mi Empresa — detalle completo en el Excel adjunto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4E78"/>
                </a:solidFill>
              </a:rPr>
              <a:t>8. Presupuesto total (Año 1)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371600"/>
          <a:ext cx="1088136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Rubro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Monto anual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Planilla 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₡120,014,920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Alquiler de oficina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₡9,600,000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Internet y telefonía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₡720,000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Software y suscripciones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₡3,600,000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Equipo tecnológico (10 laptops)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₡7,000,000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Mercadeo y lanzamiento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₡2,000,000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39496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F4E78"/>
                </a:solidFill>
              </a:rPr>
              <a:t>Total presupuesto Año 1: ₡142,934,920  (planilla ≈ 84% del total)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88888"/>
                </a:solidFill>
              </a:rPr>
              <a:t>VolunTico — Mi Empresa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4E78"/>
                </a:solidFill>
              </a:rPr>
              <a:t>9. ¿Alcanza el salario para vivir en San José?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222222"/>
                </a:solidFill>
              </a:rPr>
              <a:t>• Gasto mensual estimado de un profesional joven que vive solo en San José: ≈₡770,000.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22222"/>
                </a:solidFill>
              </a:rPr>
              <a:t>• Gerencia (₡1,200,000): cubre gastos y permite ahorro.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22222"/>
                </a:solidFill>
              </a:rPr>
              <a:t>• Desarrollo y diseño (₡700,000–₡800,000): cubre gastos básicos, ahorro moderado.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22222"/>
                </a:solidFill>
              </a:rPr>
              <a:t>• Soporte (₡500,000): por debajo del umbral — candidato prioritario a ajuste salarial cuando la empresa genere ingresos.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88888"/>
                </a:solidFill>
              </a:rPr>
              <a:t>VolunTico — Mi Empresa — ver hoja CostoDeVida en el Excel adjunto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4E78"/>
                </a:solidFill>
              </a:rPr>
              <a:t>10. Uso de tecnología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222222"/>
                </a:solidFill>
              </a:rPr>
              <a:t>• Gestión: CRM ligero (HubSpot) para alianzas; Notion/Airtable para control interno.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22222"/>
                </a:solidFill>
              </a:rPr>
              <a:t>• Comunicación: Slack (equipo interno), Google Meet/Zoom (organizaciones), Trello/Jira (proyectos).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22222"/>
                </a:solidFill>
              </a:rPr>
              <a:t>• Infraestructura: React/Next.js + Node.js + PostgreSQL, en la nube (AWS/Vercel).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22222"/>
                </a:solidFill>
              </a:rPr>
              <a:t>• Inteligencia artificial: recomendación de oportunidades según perfil, chatbot de soporte, moderación asistida de publicaciones, ayuda a organizaciones a redactar sus proyectos.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88888"/>
                </a:solidFill>
              </a:rPr>
              <a:t>VolunTico — Mi Empresa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4E78"/>
                </a:solidFill>
              </a:rPr>
              <a:t>11. Conclusiones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222222"/>
                </a:solidFill>
              </a:rPr>
              <a:t>• La S.R.L. es la figura legal coherente con el tamaño real del equipo (10 personas, un gerente).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22222"/>
                </a:solidFill>
              </a:rPr>
              <a:t>• El costo real de un colaborador es ≈1.37 veces su salario anual bruto una vez sumadas cargas sociales y aguinaldo.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22222"/>
                </a:solidFill>
              </a:rPr>
              <a:t>• La planilla es, por lejos, el rubro más pesado del presupuesto (≈84%) — el modelo de ingresos debe diversificarse más allá del voluntariado en sí.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22222"/>
                </a:solidFill>
              </a:rPr>
              <a:t>• Los salarios deben ser suficientes para que el propio equipo pueda vivir de su trabajo, no solo para que la empresa sea rentable.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22222"/>
                </a:solidFill>
              </a:rPr>
              <a:t>• Con tecnología cloud y uso puntual de IA, un equipo de 10 personas puede operar una plataforma a nivel nacional desde el primer año.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88888"/>
                </a:solidFill>
              </a:rPr>
              <a:t>VolunTico — Mi Empresa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1107</Words>
  <Application>Microsoft Office PowerPoint</Application>
  <PresentationFormat>Panorámica</PresentationFormat>
  <Paragraphs>121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MARIANA VARGAS ROJAS</cp:lastModifiedBy>
  <cp:revision>2</cp:revision>
  <dcterms:created xsi:type="dcterms:W3CDTF">2013-01-27T09:14:16Z</dcterms:created>
  <dcterms:modified xsi:type="dcterms:W3CDTF">2026-09-07T02:55:59Z</dcterms:modified>
  <cp:category/>
</cp:coreProperties>
</file>