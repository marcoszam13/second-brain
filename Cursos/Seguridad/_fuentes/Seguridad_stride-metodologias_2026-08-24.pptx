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1209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6855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72270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37137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8075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872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90034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33862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32154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6828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516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0778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903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10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6B8CAE"/>
                </a:solidFill>
              </a:rPr>
              <a:t>MICROSOFT  ·  SEGURIDAD INFORMÁTICA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kern="0" spc="800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STRIDE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Amenazas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4297680"/>
            <a:ext cx="3200400" cy="1829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8" name="Text 6"/>
          <p:cNvSpPr/>
          <p:nvPr/>
        </p:nvSpPr>
        <p:spPr>
          <a:xfrm>
            <a:off x="36576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8CAE"/>
                </a:solidFill>
              </a:rPr>
              <a:t>Identificar · Analizar · Mitigar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7315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C8FF"/>
                </a:solidFill>
              </a:rPr>
              <a:t>¿Qué es STRIDE?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8D4F0"/>
                </a:solidFill>
              </a:rPr>
              <a:t>Desarrollado por Microsoft en 1999, STRIDE es un modelo de clasificación de amenazas que permite a los equipos de seguridad identificar y categorizar sistemáticamente los riesgos en sistemas de software.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914400"/>
            <a:ext cx="2926080" cy="658368"/>
          </a:xfrm>
          <a:prstGeom prst="rect">
            <a:avLst/>
          </a:prstGeom>
          <a:solidFill>
            <a:srgbClr val="132238"/>
          </a:solidFill>
          <a:ln w="12700">
            <a:solidFill>
              <a:srgbClr val="7B61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0584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55080" y="96926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4F0"/>
                </a:solidFill>
              </a:rPr>
              <a:t>Metodología proactiva de threat modeling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0" y="1691640"/>
            <a:ext cx="2926080" cy="658368"/>
          </a:xfrm>
          <a:prstGeom prst="rect">
            <a:avLst/>
          </a:prstGeom>
          <a:solidFill>
            <a:srgbClr val="132238"/>
          </a:solidFill>
          <a:ln w="12700">
            <a:solidFill>
              <a:srgbClr val="7B61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78308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55080" y="17465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4F0"/>
                </a:solidFill>
              </a:rPr>
              <a:t>Aplicable desde las fases tempranas del diseño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943600" y="2468880"/>
            <a:ext cx="2926080" cy="658368"/>
          </a:xfrm>
          <a:prstGeom prst="rect">
            <a:avLst/>
          </a:prstGeom>
          <a:solidFill>
            <a:srgbClr val="132238"/>
          </a:solidFill>
          <a:ln w="12700">
            <a:solidFill>
              <a:srgbClr val="7B61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560320"/>
            <a:ext cx="256032" cy="256032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33756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55080" y="330098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4F0"/>
                </a:solidFill>
              </a:rPr>
              <a:t>Ampliamente adoptada en la industria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182880" y="2468880"/>
            <a:ext cx="1371600" cy="1664208"/>
          </a:xfrm>
          <a:prstGeom prst="rect">
            <a:avLst/>
          </a:prstGeom>
          <a:solidFill>
            <a:srgbClr val="132238"/>
          </a:solidFill>
          <a:ln w="25400">
            <a:solidFill>
              <a:srgbClr val="FF4D6D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7" name="Text 11"/>
          <p:cNvSpPr/>
          <p:nvPr/>
        </p:nvSpPr>
        <p:spPr>
          <a:xfrm>
            <a:off x="182880" y="254203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4D6D"/>
                </a:solidFill>
              </a:rPr>
              <a:t>S</a:t>
            </a:r>
            <a:endParaRPr lang="en-US" sz="4400" dirty="0"/>
          </a:p>
        </p:txBody>
      </p:sp>
      <p:sp>
        <p:nvSpPr>
          <p:cNvPr id="18" name="Text 12"/>
          <p:cNvSpPr/>
          <p:nvPr/>
        </p:nvSpPr>
        <p:spPr>
          <a:xfrm>
            <a:off x="219456" y="329184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Spoofing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1645920" y="2468880"/>
            <a:ext cx="1371600" cy="1664208"/>
          </a:xfrm>
          <a:prstGeom prst="rect">
            <a:avLst/>
          </a:prstGeom>
          <a:solidFill>
            <a:srgbClr val="132238"/>
          </a:solidFill>
          <a:ln w="254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0" name="Text 14"/>
          <p:cNvSpPr/>
          <p:nvPr/>
        </p:nvSpPr>
        <p:spPr>
          <a:xfrm>
            <a:off x="1645920" y="254203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8C42"/>
                </a:solidFill>
              </a:rPr>
              <a:t>T</a:t>
            </a:r>
            <a:endParaRPr lang="en-US" sz="4400" dirty="0"/>
          </a:p>
        </p:txBody>
      </p:sp>
      <p:sp>
        <p:nvSpPr>
          <p:cNvPr id="21" name="Text 15"/>
          <p:cNvSpPr/>
          <p:nvPr/>
        </p:nvSpPr>
        <p:spPr>
          <a:xfrm>
            <a:off x="1682496" y="329184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Tampering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3108960" y="2468880"/>
            <a:ext cx="1371600" cy="1664208"/>
          </a:xfrm>
          <a:prstGeom prst="rect">
            <a:avLst/>
          </a:prstGeom>
          <a:solidFill>
            <a:srgbClr val="132238"/>
          </a:solidFill>
          <a:ln w="254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3" name="Text 17"/>
          <p:cNvSpPr/>
          <p:nvPr/>
        </p:nvSpPr>
        <p:spPr>
          <a:xfrm>
            <a:off x="3108960" y="254203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D166"/>
                </a:solidFill>
              </a:rPr>
              <a:t>R</a:t>
            </a:r>
            <a:endParaRPr lang="en-US" sz="4400" dirty="0"/>
          </a:p>
        </p:txBody>
      </p:sp>
      <p:sp>
        <p:nvSpPr>
          <p:cNvPr id="24" name="Text 18"/>
          <p:cNvSpPr/>
          <p:nvPr/>
        </p:nvSpPr>
        <p:spPr>
          <a:xfrm>
            <a:off x="3145536" y="329184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Repudiation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4572000" y="2468880"/>
            <a:ext cx="1371600" cy="1664208"/>
          </a:xfrm>
          <a:prstGeom prst="rect">
            <a:avLst/>
          </a:prstGeom>
          <a:solidFill>
            <a:srgbClr val="132238"/>
          </a:solidFill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6" name="Text 20"/>
          <p:cNvSpPr/>
          <p:nvPr/>
        </p:nvSpPr>
        <p:spPr>
          <a:xfrm>
            <a:off x="4572000" y="254203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6D6A0"/>
                </a:solidFill>
              </a:rPr>
              <a:t>I</a:t>
            </a:r>
            <a:endParaRPr lang="en-US" sz="4400" dirty="0"/>
          </a:p>
        </p:txBody>
      </p:sp>
      <p:sp>
        <p:nvSpPr>
          <p:cNvPr id="27" name="Text 21"/>
          <p:cNvSpPr/>
          <p:nvPr/>
        </p:nvSpPr>
        <p:spPr>
          <a:xfrm>
            <a:off x="4608576" y="329184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Info Disclosure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6035040" y="2468880"/>
            <a:ext cx="1371600" cy="1664208"/>
          </a:xfrm>
          <a:prstGeom prst="rect">
            <a:avLst/>
          </a:prstGeom>
          <a:solidFill>
            <a:srgbClr val="132238"/>
          </a:solidFill>
          <a:ln w="25400">
            <a:solidFill>
              <a:srgbClr val="118AB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9" name="Text 23"/>
          <p:cNvSpPr/>
          <p:nvPr/>
        </p:nvSpPr>
        <p:spPr>
          <a:xfrm>
            <a:off x="6035040" y="254203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18AB2"/>
                </a:solidFill>
              </a:rPr>
              <a:t>D</a:t>
            </a:r>
            <a:endParaRPr lang="en-US" sz="4400" dirty="0"/>
          </a:p>
        </p:txBody>
      </p:sp>
      <p:sp>
        <p:nvSpPr>
          <p:cNvPr id="30" name="Text 24"/>
          <p:cNvSpPr/>
          <p:nvPr/>
        </p:nvSpPr>
        <p:spPr>
          <a:xfrm>
            <a:off x="6071616" y="329184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Denial of Service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7498080" y="2468880"/>
            <a:ext cx="1371600" cy="1664208"/>
          </a:xfrm>
          <a:prstGeom prst="rect">
            <a:avLst/>
          </a:prstGeom>
          <a:solidFill>
            <a:srgbClr val="132238"/>
          </a:solidFill>
          <a:ln w="254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2" name="Text 26"/>
          <p:cNvSpPr/>
          <p:nvPr/>
        </p:nvSpPr>
        <p:spPr>
          <a:xfrm>
            <a:off x="7498080" y="254203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9B5DE5"/>
                </a:solidFill>
              </a:rPr>
              <a:t>E</a:t>
            </a:r>
            <a:endParaRPr lang="en-US" sz="4400" dirty="0"/>
          </a:p>
        </p:txBody>
      </p:sp>
      <p:sp>
        <p:nvSpPr>
          <p:cNvPr id="33" name="Text 27"/>
          <p:cNvSpPr/>
          <p:nvPr/>
        </p:nvSpPr>
        <p:spPr>
          <a:xfrm>
            <a:off x="7534656" y="329184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Elevation of Privilege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C8FF"/>
                </a:solidFill>
              </a:rPr>
              <a:t>Las 6 Categorías de Amenazas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2743200" cy="1874520"/>
          </a:xfrm>
          <a:prstGeom prst="rect">
            <a:avLst/>
          </a:prstGeom>
          <a:solidFill>
            <a:srgbClr val="132238"/>
          </a:solidFill>
          <a:ln w="19050">
            <a:solidFill>
              <a:srgbClr val="FF4D6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R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54864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058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978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4D6D"/>
                </a:solidFill>
              </a:rPr>
              <a:t>Spoofing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41248" y="12344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8CAE"/>
                </a:solidFill>
              </a:rPr>
              <a:t>Suplantación de Identidad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84048" y="152704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D4F0"/>
                </a:solidFill>
              </a:rPr>
              <a:t>Un atacante se hace pasar por otro usuario, sistema o componente para obtener acceso no autorizado.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18688" y="868680"/>
            <a:ext cx="2743200" cy="1874520"/>
          </a:xfrm>
          <a:prstGeom prst="rect">
            <a:avLst/>
          </a:prstGeom>
          <a:solidFill>
            <a:srgbClr val="132238"/>
          </a:solidFill>
          <a:ln w="19050">
            <a:solidFill>
              <a:srgbClr val="FF8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R"/>
          </a:p>
        </p:txBody>
      </p:sp>
      <p:sp>
        <p:nvSpPr>
          <p:cNvPr id="10" name="Shape 7"/>
          <p:cNvSpPr/>
          <p:nvPr/>
        </p:nvSpPr>
        <p:spPr>
          <a:xfrm>
            <a:off x="3218688" y="868680"/>
            <a:ext cx="2743200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416" y="10058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85616" y="978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8C42"/>
                </a:solidFill>
              </a:rPr>
              <a:t>Tampering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785616" y="12344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8CAE"/>
                </a:solidFill>
              </a:rPr>
              <a:t>Manipulación de Datos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328416" y="152704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D4F0"/>
                </a:solidFill>
              </a:rPr>
              <a:t>Modificación maliciosa de datos en tránsito, en reposo o en memoria del sistema.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63056" y="868680"/>
            <a:ext cx="2743200" cy="1874520"/>
          </a:xfrm>
          <a:prstGeom prst="rect">
            <a:avLst/>
          </a:prstGeom>
          <a:solidFill>
            <a:srgbClr val="132238"/>
          </a:solidFill>
          <a:ln w="19050">
            <a:solidFill>
              <a:srgbClr val="FFD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R"/>
          </a:p>
        </p:txBody>
      </p:sp>
      <p:sp>
        <p:nvSpPr>
          <p:cNvPr id="16" name="Shape 12"/>
          <p:cNvSpPr/>
          <p:nvPr/>
        </p:nvSpPr>
        <p:spPr>
          <a:xfrm>
            <a:off x="6163056" y="868680"/>
            <a:ext cx="27432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0058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9984" y="978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D166"/>
                </a:solidFill>
              </a:rPr>
              <a:t>Repudiation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729984" y="12344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8CAE"/>
                </a:solidFill>
              </a:rPr>
              <a:t>Repudio de Acciones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272784" y="152704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D4F0"/>
                </a:solidFill>
              </a:rPr>
              <a:t>Un usuario niega haber realizado una acción sin que el sistema pueda demostrarlo.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274320" y="2880360"/>
            <a:ext cx="2743200" cy="1874520"/>
          </a:xfrm>
          <a:prstGeom prst="rect">
            <a:avLst/>
          </a:prstGeom>
          <a:solidFill>
            <a:srgbClr val="132238"/>
          </a:solidFill>
          <a:ln w="19050">
            <a:solidFill>
              <a:srgbClr val="06D6A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R"/>
          </a:p>
        </p:txBody>
      </p:sp>
      <p:sp>
        <p:nvSpPr>
          <p:cNvPr id="22" name="Shape 17"/>
          <p:cNvSpPr/>
          <p:nvPr/>
        </p:nvSpPr>
        <p:spPr>
          <a:xfrm>
            <a:off x="274320" y="2880360"/>
            <a:ext cx="27432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01752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41248" y="2990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D6A0"/>
                </a:solidFill>
              </a:rPr>
              <a:t>Info Disclosure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41248" y="3246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8CAE"/>
                </a:solidFill>
              </a:rPr>
              <a:t>Fuga de Información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384048" y="353872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D4F0"/>
                </a:solidFill>
              </a:rPr>
              <a:t>Exposición de datos confidenciales a partes no autorizadas.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3218688" y="2880360"/>
            <a:ext cx="2743200" cy="1874520"/>
          </a:xfrm>
          <a:prstGeom prst="rect">
            <a:avLst/>
          </a:prstGeom>
          <a:solidFill>
            <a:srgbClr val="132238"/>
          </a:solidFill>
          <a:ln w="19050">
            <a:solidFill>
              <a:srgbClr val="118AB2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R"/>
          </a:p>
        </p:txBody>
      </p:sp>
      <p:sp>
        <p:nvSpPr>
          <p:cNvPr id="28" name="Shape 22"/>
          <p:cNvSpPr/>
          <p:nvPr/>
        </p:nvSpPr>
        <p:spPr>
          <a:xfrm>
            <a:off x="3218688" y="2880360"/>
            <a:ext cx="2743200" cy="54864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8416" y="3017520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785616" y="2990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8AB2"/>
                </a:solidFill>
              </a:rPr>
              <a:t>Denial of Service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3785616" y="3246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8CAE"/>
                </a:solidFill>
              </a:rPr>
              <a:t>Denegación de Servicio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3328416" y="353872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D4F0"/>
                </a:solidFill>
              </a:rPr>
              <a:t>Ataques que agotan recursos del sistema haciéndolo no disponible para usuarios legítimos.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163056" y="2880360"/>
            <a:ext cx="2743200" cy="1874520"/>
          </a:xfrm>
          <a:prstGeom prst="rect">
            <a:avLst/>
          </a:prstGeom>
          <a:solidFill>
            <a:srgbClr val="132238"/>
          </a:solidFill>
          <a:ln w="19050">
            <a:solidFill>
              <a:srgbClr val="9B5DE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R"/>
          </a:p>
        </p:txBody>
      </p:sp>
      <p:sp>
        <p:nvSpPr>
          <p:cNvPr id="34" name="Shape 27"/>
          <p:cNvSpPr/>
          <p:nvPr/>
        </p:nvSpPr>
        <p:spPr>
          <a:xfrm>
            <a:off x="6163056" y="2880360"/>
            <a:ext cx="2743200" cy="54864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3017520"/>
            <a:ext cx="411480" cy="4114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729984" y="2990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B5DE5"/>
                </a:solidFill>
              </a:rPr>
              <a:t>Elevation of Privilege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6729984" y="3246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8CAE"/>
                </a:solidFill>
              </a:rPr>
              <a:t>Escalada de Privilegios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6272784" y="353872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D4F0"/>
                </a:solidFill>
              </a:rPr>
              <a:t>Un usuario obtiene permisos superiores a los asignados para realizar acciones no autorizadas.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C8FF"/>
                </a:solidFill>
              </a:rPr>
              <a:t>Proceso de Aplicación STRIDE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86968"/>
            <a:ext cx="502920" cy="5029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" name="Text 2"/>
          <p:cNvSpPr/>
          <p:nvPr/>
        </p:nvSpPr>
        <p:spPr>
          <a:xfrm>
            <a:off x="274320" y="92354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98348" y="1389888"/>
            <a:ext cx="54864" cy="2834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" name="Shape 4"/>
          <p:cNvSpPr/>
          <p:nvPr/>
        </p:nvSpPr>
        <p:spPr>
          <a:xfrm>
            <a:off x="1005840" y="868680"/>
            <a:ext cx="7772400" cy="685800"/>
          </a:xfrm>
          <a:prstGeom prst="rect">
            <a:avLst/>
          </a:prstGeom>
          <a:solidFill>
            <a:srgbClr val="132238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7" name="Text 5"/>
          <p:cNvSpPr/>
          <p:nvPr/>
        </p:nvSpPr>
        <p:spPr>
          <a:xfrm>
            <a:off x="1143000" y="9235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8FF"/>
                </a:solidFill>
              </a:rPr>
              <a:t>Definir el Sistema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93268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4F0"/>
                </a:solidFill>
              </a:rPr>
              <a:t>Identificar componentes, flujos de datos, actores y límites de confianza mediante Diagramas de Flujo de Datos (DFD).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36576" cy="4572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502920" cy="5029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1" name="Text 9"/>
          <p:cNvSpPr/>
          <p:nvPr/>
        </p:nvSpPr>
        <p:spPr>
          <a:xfrm>
            <a:off x="274320" y="172821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8348" y="2194560"/>
            <a:ext cx="54864" cy="2834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3" name="Shape 11"/>
          <p:cNvSpPr/>
          <p:nvPr/>
        </p:nvSpPr>
        <p:spPr>
          <a:xfrm>
            <a:off x="1005840" y="1673352"/>
            <a:ext cx="7772400" cy="685800"/>
          </a:xfrm>
          <a:prstGeom prst="rect">
            <a:avLst/>
          </a:prstGeom>
          <a:solidFill>
            <a:srgbClr val="132238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4" name="Text 12"/>
          <p:cNvSpPr/>
          <p:nvPr/>
        </p:nvSpPr>
        <p:spPr>
          <a:xfrm>
            <a:off x="1143000" y="17282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8FF"/>
                </a:solidFill>
              </a:rPr>
              <a:t>Descomponer la Aplicación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7373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4F0"/>
                </a:solidFill>
              </a:rPr>
              <a:t>Mapear entradas, salidas, activos críticos y puntos de entrada. Identificar el Attack Surface.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54680" y="1764792"/>
            <a:ext cx="36576" cy="4572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7" name="Shape 15"/>
          <p:cNvSpPr/>
          <p:nvPr/>
        </p:nvSpPr>
        <p:spPr>
          <a:xfrm>
            <a:off x="274320" y="2496312"/>
            <a:ext cx="502920" cy="5029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8" name="Text 16"/>
          <p:cNvSpPr/>
          <p:nvPr/>
        </p:nvSpPr>
        <p:spPr>
          <a:xfrm>
            <a:off x="274320" y="25328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8348" y="2999232"/>
            <a:ext cx="54864" cy="2834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0" name="Shape 18"/>
          <p:cNvSpPr/>
          <p:nvPr/>
        </p:nvSpPr>
        <p:spPr>
          <a:xfrm>
            <a:off x="1005840" y="2478024"/>
            <a:ext cx="7772400" cy="685800"/>
          </a:xfrm>
          <a:prstGeom prst="rect">
            <a:avLst/>
          </a:prstGeom>
          <a:solidFill>
            <a:srgbClr val="132238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1" name="Text 19"/>
          <p:cNvSpPr/>
          <p:nvPr/>
        </p:nvSpPr>
        <p:spPr>
          <a:xfrm>
            <a:off x="1143000" y="2532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8FF"/>
                </a:solidFill>
              </a:rPr>
              <a:t>Identificar Amenazas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91840" y="254203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4F0"/>
                </a:solidFill>
              </a:rPr>
              <a:t>Aplicar STRIDE a cada elemento del DFD. Preguntar: ¿qué podría salir mal aquí según cada categoría?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54680" y="2569464"/>
            <a:ext cx="36576" cy="4572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4" name="Shape 22"/>
          <p:cNvSpPr/>
          <p:nvPr/>
        </p:nvSpPr>
        <p:spPr>
          <a:xfrm>
            <a:off x="274320" y="3300984"/>
            <a:ext cx="502920" cy="5029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5" name="Text 23"/>
          <p:cNvSpPr/>
          <p:nvPr/>
        </p:nvSpPr>
        <p:spPr>
          <a:xfrm>
            <a:off x="274320" y="3337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348" y="3803904"/>
            <a:ext cx="54864" cy="2834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7" name="Shape 25"/>
          <p:cNvSpPr/>
          <p:nvPr/>
        </p:nvSpPr>
        <p:spPr>
          <a:xfrm>
            <a:off x="1005840" y="3282696"/>
            <a:ext cx="7772400" cy="685800"/>
          </a:xfrm>
          <a:prstGeom prst="rect">
            <a:avLst/>
          </a:prstGeom>
          <a:solidFill>
            <a:srgbClr val="132238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8" name="Text 26"/>
          <p:cNvSpPr/>
          <p:nvPr/>
        </p:nvSpPr>
        <p:spPr>
          <a:xfrm>
            <a:off x="1143000" y="3337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8FF"/>
                </a:solidFill>
              </a:rPr>
              <a:t>Evaluar Riesgos (DREAD)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91840" y="334670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4F0"/>
                </a:solidFill>
              </a:rPr>
              <a:t>Priorizar amenazas usando métricas de Damage, Reproducibility, Exploitability, Affected users, Discoverability.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54680" y="3374136"/>
            <a:ext cx="36576" cy="4572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1" name="Shape 29"/>
          <p:cNvSpPr/>
          <p:nvPr/>
        </p:nvSpPr>
        <p:spPr>
          <a:xfrm>
            <a:off x="274320" y="4105656"/>
            <a:ext cx="502920" cy="5029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2" name="Text 30"/>
          <p:cNvSpPr/>
          <p:nvPr/>
        </p:nvSpPr>
        <p:spPr>
          <a:xfrm>
            <a:off x="274320" y="41422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05840" y="4087368"/>
            <a:ext cx="7772400" cy="685800"/>
          </a:xfrm>
          <a:prstGeom prst="rect">
            <a:avLst/>
          </a:prstGeom>
          <a:solidFill>
            <a:srgbClr val="132238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4" name="Text 32"/>
          <p:cNvSpPr/>
          <p:nvPr/>
        </p:nvSpPr>
        <p:spPr>
          <a:xfrm>
            <a:off x="1143000" y="4142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8FF"/>
                </a:solidFill>
              </a:rPr>
              <a:t>Definir Mitigaciones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91840" y="415137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4F0"/>
                </a:solidFill>
              </a:rPr>
              <a:t>Seleccionar controles técnicos y de proceso para reducir o eliminar cada amenaza identificada.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154680" y="4178808"/>
            <a:ext cx="36576" cy="4572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</TotalTime>
  <Words>317</Words>
  <Application>Microsoft Macintosh PowerPoint</Application>
  <PresentationFormat>On-screen Show (16:9)</PresentationFormat>
  <Paragraphs>60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STRIDE - Metodologías Complementarias</dc:title>
  <dc:subject>PptxGenJS Presentation</dc:subject>
  <dc:creator>PptxGenJS</dc:creator>
  <cp:lastModifiedBy>Adriana Rojas Chavarria</cp:lastModifiedBy>
  <cp:revision>3</cp:revision>
  <dcterms:created xsi:type="dcterms:W3CDTF">2026-05-24T02:21:28Z</dcterms:created>
  <dcterms:modified xsi:type="dcterms:W3CDTF">2026-05-24T02:24:31Z</dcterms:modified>
</cp:coreProperties>
</file>