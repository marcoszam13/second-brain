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74" r:id="rId8"/>
    <p:sldId id="267" r:id="rId9"/>
    <p:sldId id="258" r:id="rId10"/>
    <p:sldId id="268" r:id="rId11"/>
    <p:sldId id="269" r:id="rId12"/>
    <p:sldId id="271" r:id="rId13"/>
    <p:sldId id="273" r:id="rId14"/>
    <p:sldId id="272" r:id="rId15"/>
    <p:sldId id="270" r:id="rId16"/>
    <p:sldId id="26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9CD6"/>
    <a:srgbClr val="BDBDBD"/>
    <a:srgbClr val="1583BD"/>
    <a:srgbClr val="EDEDE3"/>
    <a:srgbClr val="E4E4DC"/>
    <a:srgbClr val="D8D8D8"/>
    <a:srgbClr val="409CE0"/>
    <a:srgbClr val="686A71"/>
    <a:srgbClr val="0E4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F4AC1-7498-4DE3-BF69-4F01AFC9CC67}" v="16" dt="2026-08-12T15:49:26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00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Antonio Rodriguez Ovares" userId="S::ma.rodriguez@itcr.ac.cr::51e044ed-6c63-4c60-a8c9-452af1f5fe1b" providerId="AD" clId="Web-{39EF4AC1-7498-4DE3-BF69-4F01AFC9CC67}"/>
    <pc:docChg chg="modSld">
      <pc:chgData name="Marcos Antonio Rodriguez Ovares" userId="S::ma.rodriguez@itcr.ac.cr::51e044ed-6c63-4c60-a8c9-452af1f5fe1b" providerId="AD" clId="Web-{39EF4AC1-7498-4DE3-BF69-4F01AFC9CC67}" dt="2026-08-12T15:49:26.004" v="18" actId="1076"/>
      <pc:docMkLst>
        <pc:docMk/>
      </pc:docMkLst>
      <pc:sldChg chg="addSp delSp modSp">
        <pc:chgData name="Marcos Antonio Rodriguez Ovares" userId="S::ma.rodriguez@itcr.ac.cr::51e044ed-6c63-4c60-a8c9-452af1f5fe1b" providerId="AD" clId="Web-{39EF4AC1-7498-4DE3-BF69-4F01AFC9CC67}" dt="2026-08-12T15:48:51.361" v="16" actId="14100"/>
        <pc:sldMkLst>
          <pc:docMk/>
          <pc:sldMk cId="3393354480" sldId="258"/>
        </pc:sldMkLst>
        <pc:spChg chg="add del mod">
          <ac:chgData name="Marcos Antonio Rodriguez Ovares" userId="S::ma.rodriguez@itcr.ac.cr::51e044ed-6c63-4c60-a8c9-452af1f5fe1b" providerId="AD" clId="Web-{39EF4AC1-7498-4DE3-BF69-4F01AFC9CC67}" dt="2026-08-12T15:48:46.017" v="14"/>
          <ac:spMkLst>
            <pc:docMk/>
            <pc:sldMk cId="3393354480" sldId="258"/>
            <ac:spMk id="4" creationId="{E24FC27D-6D60-FC06-DA4B-4225B75A8BC4}"/>
          </ac:spMkLst>
        </pc:spChg>
        <pc:graphicFrameChg chg="del mod modGraphic">
          <ac:chgData name="Marcos Antonio Rodriguez Ovares" userId="S::ma.rodriguez@itcr.ac.cr::51e044ed-6c63-4c60-a8c9-452af1f5fe1b" providerId="AD" clId="Web-{39EF4AC1-7498-4DE3-BF69-4F01AFC9CC67}" dt="2026-08-12T15:47:53.748" v="13"/>
          <ac:graphicFrameMkLst>
            <pc:docMk/>
            <pc:sldMk cId="3393354480" sldId="258"/>
            <ac:graphicFrameMk id="6" creationId="{9AEF13CD-20D1-4820-9CD5-81908CED622C}"/>
          </ac:graphicFrameMkLst>
        </pc:graphicFrameChg>
        <pc:picChg chg="add mod ord">
          <ac:chgData name="Marcos Antonio Rodriguez Ovares" userId="S::ma.rodriguez@itcr.ac.cr::51e044ed-6c63-4c60-a8c9-452af1f5fe1b" providerId="AD" clId="Web-{39EF4AC1-7498-4DE3-BF69-4F01AFC9CC67}" dt="2026-08-12T15:48:51.361" v="16" actId="14100"/>
          <ac:picMkLst>
            <pc:docMk/>
            <pc:sldMk cId="3393354480" sldId="258"/>
            <ac:picMk id="5" creationId="{9A60012A-C89F-38AA-A9F3-C3B286D2A46B}"/>
          </ac:picMkLst>
        </pc:picChg>
      </pc:sldChg>
      <pc:sldChg chg="delSp modSp">
        <pc:chgData name="Marcos Antonio Rodriguez Ovares" userId="S::ma.rodriguez@itcr.ac.cr::51e044ed-6c63-4c60-a8c9-452af1f5fe1b" providerId="AD" clId="Web-{39EF4AC1-7498-4DE3-BF69-4F01AFC9CC67}" dt="2026-08-12T15:49:26.004" v="18" actId="1076"/>
        <pc:sldMkLst>
          <pc:docMk/>
          <pc:sldMk cId="19672387" sldId="261"/>
        </pc:sldMkLst>
        <pc:spChg chg="mod">
          <ac:chgData name="Marcos Antonio Rodriguez Ovares" userId="S::ma.rodriguez@itcr.ac.cr::51e044ed-6c63-4c60-a8c9-452af1f5fe1b" providerId="AD" clId="Web-{39EF4AC1-7498-4DE3-BF69-4F01AFC9CC67}" dt="2026-08-12T15:49:26.004" v="18" actId="1076"/>
          <ac:spMkLst>
            <pc:docMk/>
            <pc:sldMk cId="19672387" sldId="261"/>
            <ac:spMk id="2" creationId="{00000000-0000-0000-0000-000000000000}"/>
          </ac:spMkLst>
        </pc:spChg>
        <pc:spChg chg="del">
          <ac:chgData name="Marcos Antonio Rodriguez Ovares" userId="S::ma.rodriguez@itcr.ac.cr::51e044ed-6c63-4c60-a8c9-452af1f5fe1b" providerId="AD" clId="Web-{39EF4AC1-7498-4DE3-BF69-4F01AFC9CC67}" dt="2026-08-12T15:49:20.473" v="17"/>
          <ac:spMkLst>
            <pc:docMk/>
            <pc:sldMk cId="19672387" sldId="261"/>
            <ac:spMk id="3" creationId="{B61C1E22-25B7-49F5-A1EC-FF6846BE4D24}"/>
          </ac:spMkLst>
        </pc:spChg>
      </pc:sldChg>
      <pc:sldChg chg="modSp">
        <pc:chgData name="Marcos Antonio Rodriguez Ovares" userId="S::ma.rodriguez@itcr.ac.cr::51e044ed-6c63-4c60-a8c9-452af1f5fe1b" providerId="AD" clId="Web-{39EF4AC1-7498-4DE3-BF69-4F01AFC9CC67}" dt="2026-08-12T15:44:01.201" v="2" actId="20577"/>
        <pc:sldMkLst>
          <pc:docMk/>
          <pc:sldMk cId="1924163098" sldId="274"/>
        </pc:sldMkLst>
        <pc:graphicFrameChg chg="modGraphic">
          <ac:chgData name="Marcos Antonio Rodriguez Ovares" userId="S::ma.rodriguez@itcr.ac.cr::51e044ed-6c63-4c60-a8c9-452af1f5fe1b" providerId="AD" clId="Web-{39EF4AC1-7498-4DE3-BF69-4F01AFC9CC67}" dt="2026-08-12T15:44:01.201" v="2" actId="20577"/>
          <ac:graphicFrameMkLst>
            <pc:docMk/>
            <pc:sldMk cId="1924163098" sldId="274"/>
            <ac:graphicFrameMk id="2" creationId="{239B2776-CDF1-4BAA-9AD6-238A8A107034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A91521-AD80-4DB1-8474-2C4B2AF66624}" type="doc">
      <dgm:prSet loTypeId="urn:microsoft.com/office/officeart/2005/8/layout/StepDownProcess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CR"/>
        </a:p>
      </dgm:t>
    </dgm:pt>
    <dgm:pt modelId="{078662F5-3415-47EF-89B4-E95D173DF2AE}">
      <dgm:prSet phldrT="[Texto]" custT="1"/>
      <dgm:spPr/>
      <dgm:t>
        <a:bodyPr/>
        <a:lstStyle/>
        <a:p>
          <a:pPr algn="just"/>
          <a:r>
            <a:rPr lang="es-ES_tradnl" sz="1400" b="1" i="1" u="none" dirty="0"/>
            <a:t>Identificación del problema y definición de objetivos</a:t>
          </a:r>
          <a:endParaRPr lang="es-CR" sz="1400" b="1" i="1" u="none" dirty="0"/>
        </a:p>
      </dgm:t>
    </dgm:pt>
    <dgm:pt modelId="{25743DF9-7F65-4264-BE7F-49854FBAEAA8}" type="parTrans" cxnId="{D5A5F035-CE43-4170-B5E5-B80B324CF4B8}">
      <dgm:prSet/>
      <dgm:spPr/>
      <dgm:t>
        <a:bodyPr/>
        <a:lstStyle/>
        <a:p>
          <a:endParaRPr lang="es-CR"/>
        </a:p>
      </dgm:t>
    </dgm:pt>
    <dgm:pt modelId="{784EBF20-5F29-414B-ACE4-799B558A896C}" type="sibTrans" cxnId="{D5A5F035-CE43-4170-B5E5-B80B324CF4B8}">
      <dgm:prSet/>
      <dgm:spPr/>
      <dgm:t>
        <a:bodyPr/>
        <a:lstStyle/>
        <a:p>
          <a:endParaRPr lang="es-CR"/>
        </a:p>
      </dgm:t>
    </dgm:pt>
    <dgm:pt modelId="{E918AF20-35AB-4F2B-8A0C-7D80C4E39A1D}">
      <dgm:prSet phldrT="[Texto]" custT="1"/>
      <dgm:spPr/>
      <dgm:t>
        <a:bodyPr/>
        <a:lstStyle/>
        <a:p>
          <a:r>
            <a:rPr lang="es-CR" sz="1200" dirty="0"/>
            <a:t>Equipos de 3/4 personas</a:t>
          </a:r>
        </a:p>
      </dgm:t>
    </dgm:pt>
    <dgm:pt modelId="{6FB4B71F-4A6A-4320-87A8-288BF8BEA600}" type="parTrans" cxnId="{6573F39A-592C-48EA-950A-2E56193386B0}">
      <dgm:prSet/>
      <dgm:spPr/>
      <dgm:t>
        <a:bodyPr/>
        <a:lstStyle/>
        <a:p>
          <a:endParaRPr lang="es-CR"/>
        </a:p>
      </dgm:t>
    </dgm:pt>
    <dgm:pt modelId="{4FE280DB-9B93-47B6-A2D3-7DAF0CFC89CF}" type="sibTrans" cxnId="{6573F39A-592C-48EA-950A-2E56193386B0}">
      <dgm:prSet/>
      <dgm:spPr/>
      <dgm:t>
        <a:bodyPr/>
        <a:lstStyle/>
        <a:p>
          <a:endParaRPr lang="es-CR"/>
        </a:p>
      </dgm:t>
    </dgm:pt>
    <dgm:pt modelId="{6E7F8EE6-1E52-4C7D-A6F0-65273D0BF323}">
      <dgm:prSet phldrT="[Texto]" custT="1"/>
      <dgm:spPr/>
      <dgm:t>
        <a:bodyPr/>
        <a:lstStyle/>
        <a:p>
          <a:pPr algn="just"/>
          <a:r>
            <a:rPr lang="es-CR" sz="1400" b="1" i="1" dirty="0"/>
            <a:t>Planeación</a:t>
          </a:r>
        </a:p>
      </dgm:t>
    </dgm:pt>
    <dgm:pt modelId="{A7B96440-FD65-4504-94EA-C9D909BADB1E}" type="parTrans" cxnId="{E095E681-BF5E-41D4-BDDC-0165248AAA52}">
      <dgm:prSet/>
      <dgm:spPr/>
      <dgm:t>
        <a:bodyPr/>
        <a:lstStyle/>
        <a:p>
          <a:endParaRPr lang="es-CR"/>
        </a:p>
      </dgm:t>
    </dgm:pt>
    <dgm:pt modelId="{92437B9F-C85A-4B9C-A567-9185AB2C705E}" type="sibTrans" cxnId="{E095E681-BF5E-41D4-BDDC-0165248AAA52}">
      <dgm:prSet/>
      <dgm:spPr/>
      <dgm:t>
        <a:bodyPr/>
        <a:lstStyle/>
        <a:p>
          <a:endParaRPr lang="es-CR"/>
        </a:p>
      </dgm:t>
    </dgm:pt>
    <dgm:pt modelId="{8A967491-2EB3-4DED-9942-A0665EE34D97}">
      <dgm:prSet phldrT="[Texto]" custT="1"/>
      <dgm:spPr/>
      <dgm:t>
        <a:bodyPr/>
        <a:lstStyle/>
        <a:p>
          <a:r>
            <a:rPr lang="es-CR" sz="1200" dirty="0"/>
            <a:t>Entregable: Plan de pruebas</a:t>
          </a:r>
        </a:p>
      </dgm:t>
    </dgm:pt>
    <dgm:pt modelId="{08005517-34AA-4723-822E-9881051840DA}" type="parTrans" cxnId="{818D92A2-3224-4F0F-9B22-439ADB1E11BE}">
      <dgm:prSet/>
      <dgm:spPr/>
      <dgm:t>
        <a:bodyPr/>
        <a:lstStyle/>
        <a:p>
          <a:endParaRPr lang="es-CR"/>
        </a:p>
      </dgm:t>
    </dgm:pt>
    <dgm:pt modelId="{4FCE4CB4-4A0D-4B57-8664-5F3EC39C60B1}" type="sibTrans" cxnId="{818D92A2-3224-4F0F-9B22-439ADB1E11BE}">
      <dgm:prSet/>
      <dgm:spPr/>
      <dgm:t>
        <a:bodyPr/>
        <a:lstStyle/>
        <a:p>
          <a:endParaRPr lang="es-CR"/>
        </a:p>
      </dgm:t>
    </dgm:pt>
    <dgm:pt modelId="{50B0A558-7F47-416E-B3F6-0841AC158E08}">
      <dgm:prSet phldrT="[Texto]" custT="1"/>
      <dgm:spPr/>
      <dgm:t>
        <a:bodyPr/>
        <a:lstStyle/>
        <a:p>
          <a:pPr algn="just"/>
          <a:r>
            <a:rPr lang="es-ES_tradnl" sz="1400" b="1" i="1" u="none" dirty="0"/>
            <a:t>Diseño, Desarrollo y Evaluación</a:t>
          </a:r>
          <a:endParaRPr lang="es-CR" sz="1400" b="1" i="1" u="none" dirty="0"/>
        </a:p>
      </dgm:t>
    </dgm:pt>
    <dgm:pt modelId="{E9AC0238-8617-4A0E-96F7-0549079B9448}" type="parTrans" cxnId="{57C8A4CF-B4E9-43FD-8FDF-187F256B2836}">
      <dgm:prSet/>
      <dgm:spPr/>
      <dgm:t>
        <a:bodyPr/>
        <a:lstStyle/>
        <a:p>
          <a:endParaRPr lang="es-CR"/>
        </a:p>
      </dgm:t>
    </dgm:pt>
    <dgm:pt modelId="{7CE40052-0DEC-41F5-9B88-1AB8AC615099}" type="sibTrans" cxnId="{57C8A4CF-B4E9-43FD-8FDF-187F256B2836}">
      <dgm:prSet/>
      <dgm:spPr/>
      <dgm:t>
        <a:bodyPr/>
        <a:lstStyle/>
        <a:p>
          <a:endParaRPr lang="es-CR"/>
        </a:p>
      </dgm:t>
    </dgm:pt>
    <dgm:pt modelId="{ACB02906-4371-4DBC-BC97-7A15F3F721E1}">
      <dgm:prSet phldrT="[Texto]" custT="1"/>
      <dgm:spPr/>
      <dgm:t>
        <a:bodyPr/>
        <a:lstStyle/>
        <a:p>
          <a:r>
            <a:rPr lang="es-CR" sz="1200" dirty="0"/>
            <a:t>Entregable: Proyecto de pruebas e Informe de pruebas</a:t>
          </a:r>
        </a:p>
      </dgm:t>
    </dgm:pt>
    <dgm:pt modelId="{24016FC1-C00C-4953-B9F1-6849980D2F82}" type="parTrans" cxnId="{BE7E6731-AE2B-423B-8931-EAE66E272DC9}">
      <dgm:prSet/>
      <dgm:spPr/>
      <dgm:t>
        <a:bodyPr/>
        <a:lstStyle/>
        <a:p>
          <a:endParaRPr lang="es-CR"/>
        </a:p>
      </dgm:t>
    </dgm:pt>
    <dgm:pt modelId="{98E97AEB-085F-4E42-975B-2863F9C5BA11}" type="sibTrans" cxnId="{BE7E6731-AE2B-423B-8931-EAE66E272DC9}">
      <dgm:prSet/>
      <dgm:spPr/>
      <dgm:t>
        <a:bodyPr/>
        <a:lstStyle/>
        <a:p>
          <a:endParaRPr lang="es-CR"/>
        </a:p>
      </dgm:t>
    </dgm:pt>
    <dgm:pt modelId="{FFB17025-81B5-479A-A316-F59E7EEB6242}">
      <dgm:prSet phldrT="[Texto]" custT="1"/>
      <dgm:spPr/>
      <dgm:t>
        <a:bodyPr/>
        <a:lstStyle/>
        <a:p>
          <a:r>
            <a:rPr lang="es-CR" sz="1200" dirty="0"/>
            <a:t>Se desarrolla de manera </a:t>
          </a:r>
          <a:r>
            <a:rPr lang="es-CR" sz="1200" b="1" dirty="0"/>
            <a:t>individual</a:t>
          </a:r>
          <a:r>
            <a:rPr lang="es-CR" sz="1200" dirty="0"/>
            <a:t> de forma paralela al resto de fases</a:t>
          </a:r>
        </a:p>
      </dgm:t>
    </dgm:pt>
    <dgm:pt modelId="{86E3B980-9025-4FD3-9138-8D04289E5BE5}" type="parTrans" cxnId="{05B397A9-76D6-4D7C-832B-12A239C1D80D}">
      <dgm:prSet/>
      <dgm:spPr/>
      <dgm:t>
        <a:bodyPr/>
        <a:lstStyle/>
        <a:p>
          <a:endParaRPr lang="es-CR"/>
        </a:p>
      </dgm:t>
    </dgm:pt>
    <dgm:pt modelId="{BA9EE4A2-405F-4F6D-9F4F-0D25F62E629E}" type="sibTrans" cxnId="{05B397A9-76D6-4D7C-832B-12A239C1D80D}">
      <dgm:prSet/>
      <dgm:spPr/>
      <dgm:t>
        <a:bodyPr/>
        <a:lstStyle/>
        <a:p>
          <a:endParaRPr lang="es-CR"/>
        </a:p>
      </dgm:t>
    </dgm:pt>
    <dgm:pt modelId="{01C3ECAF-E514-47C4-B8AC-221E4643C3AD}">
      <dgm:prSet phldrT="[Texto]" custT="1"/>
      <dgm:spPr/>
      <dgm:t>
        <a:bodyPr/>
        <a:lstStyle/>
        <a:p>
          <a:r>
            <a:rPr lang="es-CR" sz="1200" dirty="0"/>
            <a:t>Entregable: Presentación de pruebas</a:t>
          </a:r>
        </a:p>
      </dgm:t>
    </dgm:pt>
    <dgm:pt modelId="{F086A24B-E0C2-4BCF-82AA-3BCEEC3C9FDF}" type="parTrans" cxnId="{6720D2F5-07E9-4DA6-8E57-DB059C535962}">
      <dgm:prSet/>
      <dgm:spPr/>
      <dgm:t>
        <a:bodyPr/>
        <a:lstStyle/>
        <a:p>
          <a:endParaRPr lang="es-CR"/>
        </a:p>
      </dgm:t>
    </dgm:pt>
    <dgm:pt modelId="{3239D124-D576-40F6-8CC1-88866C015CF8}" type="sibTrans" cxnId="{6720D2F5-07E9-4DA6-8E57-DB059C535962}">
      <dgm:prSet/>
      <dgm:spPr/>
      <dgm:t>
        <a:bodyPr/>
        <a:lstStyle/>
        <a:p>
          <a:endParaRPr lang="es-CR"/>
        </a:p>
      </dgm:t>
    </dgm:pt>
    <dgm:pt modelId="{4AAC2140-7FF3-4E3C-8746-FF3AC09506CD}">
      <dgm:prSet phldrT="[Texto]" custT="1"/>
      <dgm:spPr/>
      <dgm:t>
        <a:bodyPr/>
        <a:lstStyle/>
        <a:p>
          <a:pPr algn="just"/>
          <a:r>
            <a:rPr lang="es-CR" sz="1400" b="1" i="1" dirty="0"/>
            <a:t>Comunicación</a:t>
          </a:r>
        </a:p>
      </dgm:t>
    </dgm:pt>
    <dgm:pt modelId="{3E055D2A-7333-49E7-B223-59F17E4C499E}" type="parTrans" cxnId="{00634500-ABB4-48EB-99CA-0E9F63AF5564}">
      <dgm:prSet/>
      <dgm:spPr/>
      <dgm:t>
        <a:bodyPr/>
        <a:lstStyle/>
        <a:p>
          <a:endParaRPr lang="es-CR"/>
        </a:p>
      </dgm:t>
    </dgm:pt>
    <dgm:pt modelId="{21D94686-9626-4747-8DC1-94EA94C200DB}" type="sibTrans" cxnId="{00634500-ABB4-48EB-99CA-0E9F63AF5564}">
      <dgm:prSet/>
      <dgm:spPr/>
      <dgm:t>
        <a:bodyPr/>
        <a:lstStyle/>
        <a:p>
          <a:endParaRPr lang="es-CR"/>
        </a:p>
      </dgm:t>
    </dgm:pt>
    <dgm:pt modelId="{EB221CC0-7DB9-49C0-A2C1-CBA94BA9FEA5}">
      <dgm:prSet phldrT="[Texto]" custT="1"/>
      <dgm:spPr/>
      <dgm:t>
        <a:bodyPr/>
        <a:lstStyle/>
        <a:p>
          <a:pPr algn="just"/>
          <a:r>
            <a:rPr lang="es-CR" sz="1400" b="1" i="1" dirty="0"/>
            <a:t>Reflexión</a:t>
          </a:r>
        </a:p>
      </dgm:t>
    </dgm:pt>
    <dgm:pt modelId="{CD40F587-913C-408D-866F-4F017B181021}" type="parTrans" cxnId="{4304F450-CFDE-49B1-8198-D2B088FE0F61}">
      <dgm:prSet/>
      <dgm:spPr/>
      <dgm:t>
        <a:bodyPr/>
        <a:lstStyle/>
        <a:p>
          <a:endParaRPr lang="es-CR"/>
        </a:p>
      </dgm:t>
    </dgm:pt>
    <dgm:pt modelId="{73FB4C28-3696-4DD5-92F3-B20F6DD3E539}" type="sibTrans" cxnId="{4304F450-CFDE-49B1-8198-D2B088FE0F61}">
      <dgm:prSet/>
      <dgm:spPr/>
      <dgm:t>
        <a:bodyPr/>
        <a:lstStyle/>
        <a:p>
          <a:endParaRPr lang="es-CR"/>
        </a:p>
      </dgm:t>
    </dgm:pt>
    <dgm:pt modelId="{12EDA2EB-62C8-4896-BE9D-8B3E362463BD}">
      <dgm:prSet phldrT="[Texto]" custT="1"/>
      <dgm:spPr/>
      <dgm:t>
        <a:bodyPr/>
        <a:lstStyle/>
        <a:p>
          <a:r>
            <a:rPr lang="es-CR" sz="1200" dirty="0"/>
            <a:t>Entregable: Diario reflexivo</a:t>
          </a:r>
        </a:p>
      </dgm:t>
    </dgm:pt>
    <dgm:pt modelId="{08A2FE48-53BB-40F9-9CE6-29C3D3F51AEF}" type="parTrans" cxnId="{CAFF65F4-3E58-4105-9A93-B8C9D120ECB7}">
      <dgm:prSet/>
      <dgm:spPr/>
      <dgm:t>
        <a:bodyPr/>
        <a:lstStyle/>
        <a:p>
          <a:endParaRPr lang="es-CR"/>
        </a:p>
      </dgm:t>
    </dgm:pt>
    <dgm:pt modelId="{6CCDAD50-63C8-47F3-8804-2220F230CD19}" type="sibTrans" cxnId="{CAFF65F4-3E58-4105-9A93-B8C9D120ECB7}">
      <dgm:prSet/>
      <dgm:spPr/>
      <dgm:t>
        <a:bodyPr/>
        <a:lstStyle/>
        <a:p>
          <a:endParaRPr lang="es-CR"/>
        </a:p>
      </dgm:t>
    </dgm:pt>
    <dgm:pt modelId="{8D2B7460-C90E-4755-BDFD-A1EDCCC75022}">
      <dgm:prSet phldrT="[Texto]" custT="1"/>
      <dgm:spPr/>
      <dgm:t>
        <a:bodyPr/>
        <a:lstStyle/>
        <a:p>
          <a:r>
            <a:rPr lang="es-CR" sz="1200" dirty="0"/>
            <a:t>Entregable: Plan del proyecto</a:t>
          </a:r>
        </a:p>
      </dgm:t>
    </dgm:pt>
    <dgm:pt modelId="{E09CAD73-5883-4A5F-BB8B-234810464218}" type="parTrans" cxnId="{36AAE01A-8C7A-4F76-9ECE-36AD17E2F86B}">
      <dgm:prSet/>
      <dgm:spPr/>
      <dgm:t>
        <a:bodyPr/>
        <a:lstStyle/>
        <a:p>
          <a:endParaRPr lang="es-CR"/>
        </a:p>
      </dgm:t>
    </dgm:pt>
    <dgm:pt modelId="{4B872027-67EF-4714-B33B-DFDB2A0324A5}" type="sibTrans" cxnId="{36AAE01A-8C7A-4F76-9ECE-36AD17E2F86B}">
      <dgm:prSet/>
      <dgm:spPr/>
      <dgm:t>
        <a:bodyPr/>
        <a:lstStyle/>
        <a:p>
          <a:endParaRPr lang="es-CR"/>
        </a:p>
      </dgm:t>
    </dgm:pt>
    <dgm:pt modelId="{2D73338A-9471-4FAF-8EE6-3B520BCCD918}">
      <dgm:prSet phldrT="[Texto]" custT="1"/>
      <dgm:spPr/>
      <dgm:t>
        <a:bodyPr/>
        <a:lstStyle/>
        <a:p>
          <a:r>
            <a:rPr lang="es-CR" sz="1200" dirty="0"/>
            <a:t>Seleccionar tipos de pruebas</a:t>
          </a:r>
        </a:p>
      </dgm:t>
    </dgm:pt>
    <dgm:pt modelId="{BBCFD766-16F7-4863-A328-F8C721B8FB7E}" type="parTrans" cxnId="{0F990D75-2127-4286-9545-BF2C5F878B19}">
      <dgm:prSet/>
      <dgm:spPr/>
      <dgm:t>
        <a:bodyPr/>
        <a:lstStyle/>
        <a:p>
          <a:endParaRPr lang="es-CR"/>
        </a:p>
      </dgm:t>
    </dgm:pt>
    <dgm:pt modelId="{0AB53342-2BC0-4E72-81F6-CE2C69736714}" type="sibTrans" cxnId="{0F990D75-2127-4286-9545-BF2C5F878B19}">
      <dgm:prSet/>
      <dgm:spPr/>
      <dgm:t>
        <a:bodyPr/>
        <a:lstStyle/>
        <a:p>
          <a:endParaRPr lang="es-CR"/>
        </a:p>
      </dgm:t>
    </dgm:pt>
    <dgm:pt modelId="{380ACE95-8B91-4782-9D66-C3CBED51BBF2}">
      <dgm:prSet phldrT="[Texto]" custT="1"/>
      <dgm:spPr/>
      <dgm:t>
        <a:bodyPr/>
        <a:lstStyle/>
        <a:p>
          <a:r>
            <a:rPr lang="es-CR" sz="1200" dirty="0"/>
            <a:t>Definir 60 casos de pruebas</a:t>
          </a:r>
        </a:p>
      </dgm:t>
    </dgm:pt>
    <dgm:pt modelId="{BCBB1AE0-33C5-4C8A-B8FA-55B2C3433754}" type="parTrans" cxnId="{AE0DB633-9F67-4280-BE59-291F94737263}">
      <dgm:prSet/>
      <dgm:spPr/>
      <dgm:t>
        <a:bodyPr/>
        <a:lstStyle/>
        <a:p>
          <a:endParaRPr lang="es-CR"/>
        </a:p>
      </dgm:t>
    </dgm:pt>
    <dgm:pt modelId="{65E78818-6E96-4D03-91B6-E893877F97C7}" type="sibTrans" cxnId="{AE0DB633-9F67-4280-BE59-291F94737263}">
      <dgm:prSet/>
      <dgm:spPr/>
      <dgm:t>
        <a:bodyPr/>
        <a:lstStyle/>
        <a:p>
          <a:endParaRPr lang="es-CR"/>
        </a:p>
      </dgm:t>
    </dgm:pt>
    <dgm:pt modelId="{EB5D9B0F-D8D9-4158-9224-828CB1ED310E}">
      <dgm:prSet phldrT="[Texto]" custT="1"/>
      <dgm:spPr/>
      <dgm:t>
        <a:bodyPr/>
        <a:lstStyle/>
        <a:p>
          <a:r>
            <a:rPr lang="es-CR" sz="1200" dirty="0"/>
            <a:t>Automatizar pruebas</a:t>
          </a:r>
        </a:p>
      </dgm:t>
    </dgm:pt>
    <dgm:pt modelId="{41B09B42-A70C-4856-BAB2-BB51A2F456A6}" type="parTrans" cxnId="{76CA88F2-C121-4E76-8CBF-1D271F79057D}">
      <dgm:prSet/>
      <dgm:spPr/>
      <dgm:t>
        <a:bodyPr/>
        <a:lstStyle/>
        <a:p>
          <a:endParaRPr lang="es-CR"/>
        </a:p>
      </dgm:t>
    </dgm:pt>
    <dgm:pt modelId="{00B3B727-C889-4370-A3A5-E7DD1047392A}" type="sibTrans" cxnId="{76CA88F2-C121-4E76-8CBF-1D271F79057D}">
      <dgm:prSet/>
      <dgm:spPr/>
      <dgm:t>
        <a:bodyPr/>
        <a:lstStyle/>
        <a:p>
          <a:endParaRPr lang="es-CR"/>
        </a:p>
      </dgm:t>
    </dgm:pt>
    <dgm:pt modelId="{E5CC9E7B-1C7B-47E0-AF66-04DC1ECED221}">
      <dgm:prSet phldrT="[Texto]" custT="1"/>
      <dgm:spPr/>
      <dgm:t>
        <a:bodyPr/>
        <a:lstStyle/>
        <a:p>
          <a:r>
            <a:rPr lang="es-CR" sz="1200" dirty="0"/>
            <a:t>Documentar defectos</a:t>
          </a:r>
        </a:p>
      </dgm:t>
    </dgm:pt>
    <dgm:pt modelId="{F26EBD63-591B-40E0-BD38-193C91E3F5E2}" type="parTrans" cxnId="{051AE3EA-8B98-4ACF-827C-58E209E1DEB2}">
      <dgm:prSet/>
      <dgm:spPr/>
      <dgm:t>
        <a:bodyPr/>
        <a:lstStyle/>
        <a:p>
          <a:endParaRPr lang="es-CR"/>
        </a:p>
      </dgm:t>
    </dgm:pt>
    <dgm:pt modelId="{D684E9D0-0B68-4D1A-9AC8-F75DF45EDA77}" type="sibTrans" cxnId="{051AE3EA-8B98-4ACF-827C-58E209E1DEB2}">
      <dgm:prSet/>
      <dgm:spPr/>
      <dgm:t>
        <a:bodyPr/>
        <a:lstStyle/>
        <a:p>
          <a:endParaRPr lang="es-CR"/>
        </a:p>
      </dgm:t>
    </dgm:pt>
    <dgm:pt modelId="{C1C0790A-90A0-475F-9923-521E8F9E1324}">
      <dgm:prSet phldrT="[Texto]" custT="1"/>
      <dgm:spPr/>
      <dgm:t>
        <a:bodyPr/>
        <a:lstStyle/>
        <a:p>
          <a:r>
            <a:rPr lang="es-CR" sz="1200" dirty="0"/>
            <a:t>Fecha de entrega: Semana 6</a:t>
          </a:r>
        </a:p>
      </dgm:t>
    </dgm:pt>
    <dgm:pt modelId="{C7FFF152-114D-4AC8-B38E-81CE32B66AF3}" type="parTrans" cxnId="{F61E755E-F701-4B60-AF02-93852D22C0B4}">
      <dgm:prSet/>
      <dgm:spPr/>
      <dgm:t>
        <a:bodyPr/>
        <a:lstStyle/>
        <a:p>
          <a:endParaRPr lang="es-CR"/>
        </a:p>
      </dgm:t>
    </dgm:pt>
    <dgm:pt modelId="{B8373012-EEC4-49FA-B0A1-80F65CE30F67}" type="sibTrans" cxnId="{F61E755E-F701-4B60-AF02-93852D22C0B4}">
      <dgm:prSet/>
      <dgm:spPr/>
      <dgm:t>
        <a:bodyPr/>
        <a:lstStyle/>
        <a:p>
          <a:endParaRPr lang="es-CR"/>
        </a:p>
      </dgm:t>
    </dgm:pt>
    <dgm:pt modelId="{B9A8DF46-002B-48C1-8E9B-656E55A80F50}">
      <dgm:prSet phldrT="[Texto]" custT="1"/>
      <dgm:spPr/>
      <dgm:t>
        <a:bodyPr/>
        <a:lstStyle/>
        <a:p>
          <a:r>
            <a:rPr lang="es-CR" sz="1200" dirty="0"/>
            <a:t>Fecha de entrega: Semana 11</a:t>
          </a:r>
        </a:p>
      </dgm:t>
    </dgm:pt>
    <dgm:pt modelId="{BB48EA26-56F2-4B25-8AD1-DF2CE1B2C75B}" type="parTrans" cxnId="{16EC3156-DBB6-48C9-939C-F97A6687E701}">
      <dgm:prSet/>
      <dgm:spPr/>
      <dgm:t>
        <a:bodyPr/>
        <a:lstStyle/>
        <a:p>
          <a:endParaRPr lang="es-CR"/>
        </a:p>
      </dgm:t>
    </dgm:pt>
    <dgm:pt modelId="{7C6357E5-7116-494A-A6F3-8DE549F9872F}" type="sibTrans" cxnId="{16EC3156-DBB6-48C9-939C-F97A6687E701}">
      <dgm:prSet/>
      <dgm:spPr/>
      <dgm:t>
        <a:bodyPr/>
        <a:lstStyle/>
        <a:p>
          <a:endParaRPr lang="es-CR"/>
        </a:p>
      </dgm:t>
    </dgm:pt>
    <dgm:pt modelId="{AC41FC91-4290-4C1E-8546-F0C1F83052A9}">
      <dgm:prSet phldrT="[Texto]" custT="1"/>
      <dgm:spPr/>
      <dgm:t>
        <a:bodyPr/>
        <a:lstStyle/>
        <a:p>
          <a:pPr rtl="0"/>
          <a:r>
            <a:rPr lang="es-CR" sz="1200" dirty="0"/>
            <a:t>Fecha de entrega: Semana </a:t>
          </a:r>
          <a:r>
            <a:rPr lang="es-CR" sz="1200" dirty="0">
              <a:latin typeface="Calibri Light" panose="020F0302020204030204"/>
            </a:rPr>
            <a:t>16 y</a:t>
          </a:r>
          <a:r>
            <a:rPr lang="es-CR" sz="1200" dirty="0"/>
            <a:t> Semana 17</a:t>
          </a:r>
        </a:p>
      </dgm:t>
    </dgm:pt>
    <dgm:pt modelId="{81E8A17F-8311-4D5F-B032-BB50BFE4C303}" type="parTrans" cxnId="{444B85B1-3F90-4168-8FD9-82C7AC07DF72}">
      <dgm:prSet/>
      <dgm:spPr/>
      <dgm:t>
        <a:bodyPr/>
        <a:lstStyle/>
        <a:p>
          <a:endParaRPr lang="es-CR"/>
        </a:p>
      </dgm:t>
    </dgm:pt>
    <dgm:pt modelId="{6196E888-AD39-47DD-8394-C59AA4FDADB1}" type="sibTrans" cxnId="{444B85B1-3F90-4168-8FD9-82C7AC07DF72}">
      <dgm:prSet/>
      <dgm:spPr/>
      <dgm:t>
        <a:bodyPr/>
        <a:lstStyle/>
        <a:p>
          <a:endParaRPr lang="es-CR"/>
        </a:p>
      </dgm:t>
    </dgm:pt>
    <dgm:pt modelId="{1EF962CE-38C9-480B-B54F-7C9A9F809D32}">
      <dgm:prSet phldrT="[Texto]" custT="1"/>
      <dgm:spPr/>
      <dgm:t>
        <a:bodyPr/>
        <a:lstStyle/>
        <a:p>
          <a:r>
            <a:rPr lang="es-CR" sz="1200" dirty="0"/>
            <a:t>Fecha de entrega: Semana 17</a:t>
          </a:r>
        </a:p>
      </dgm:t>
    </dgm:pt>
    <dgm:pt modelId="{F71F01B5-A6C8-475F-A2FB-CBFAD19062D2}" type="parTrans" cxnId="{88BF48B4-D5BD-4F6C-8E1F-710A0F14F65C}">
      <dgm:prSet/>
      <dgm:spPr/>
      <dgm:t>
        <a:bodyPr/>
        <a:lstStyle/>
        <a:p>
          <a:endParaRPr lang="es-CR"/>
        </a:p>
      </dgm:t>
    </dgm:pt>
    <dgm:pt modelId="{CEB4B0A4-BF37-455F-A34E-0AB560148C5C}" type="sibTrans" cxnId="{88BF48B4-D5BD-4F6C-8E1F-710A0F14F65C}">
      <dgm:prSet/>
      <dgm:spPr/>
      <dgm:t>
        <a:bodyPr/>
        <a:lstStyle/>
        <a:p>
          <a:endParaRPr lang="es-CR"/>
        </a:p>
      </dgm:t>
    </dgm:pt>
    <dgm:pt modelId="{63C0C027-1E58-4EC6-AB5C-0BC2D91FB569}">
      <dgm:prSet phldrT="[Texto]" custT="1"/>
      <dgm:spPr/>
      <dgm:t>
        <a:bodyPr/>
        <a:lstStyle/>
        <a:p>
          <a:r>
            <a:rPr lang="es-CR" sz="1200" dirty="0"/>
            <a:t>Fecha de entrega: Semana 17</a:t>
          </a:r>
        </a:p>
      </dgm:t>
    </dgm:pt>
    <dgm:pt modelId="{BA5D388E-F41F-4ACC-8463-51FA094CD595}" type="parTrans" cxnId="{7ED6618D-5341-403A-8A5A-C7B800D1CA4B}">
      <dgm:prSet/>
      <dgm:spPr/>
      <dgm:t>
        <a:bodyPr/>
        <a:lstStyle/>
        <a:p>
          <a:endParaRPr lang="es-CR"/>
        </a:p>
      </dgm:t>
    </dgm:pt>
    <dgm:pt modelId="{B2B2C3C2-8D59-4D1B-B4F4-2DC2A30FAE36}" type="sibTrans" cxnId="{7ED6618D-5341-403A-8A5A-C7B800D1CA4B}">
      <dgm:prSet/>
      <dgm:spPr/>
      <dgm:t>
        <a:bodyPr/>
        <a:lstStyle/>
        <a:p>
          <a:endParaRPr lang="es-CR"/>
        </a:p>
      </dgm:t>
    </dgm:pt>
    <dgm:pt modelId="{1216B74B-661E-426A-ABEB-ED9A92CAF764}" type="pres">
      <dgm:prSet presAssocID="{84A91521-AD80-4DB1-8474-2C4B2AF66624}" presName="rootnode" presStyleCnt="0">
        <dgm:presLayoutVars>
          <dgm:chMax/>
          <dgm:chPref/>
          <dgm:dir/>
          <dgm:animLvl val="lvl"/>
        </dgm:presLayoutVars>
      </dgm:prSet>
      <dgm:spPr/>
    </dgm:pt>
    <dgm:pt modelId="{78321ECB-9BB1-42C5-9049-7FE2FEE153C6}" type="pres">
      <dgm:prSet presAssocID="{078662F5-3415-47EF-89B4-E95D173DF2AE}" presName="composite" presStyleCnt="0"/>
      <dgm:spPr/>
    </dgm:pt>
    <dgm:pt modelId="{488C2C83-4C2D-4BCF-B1E8-DB18C12A60A4}" type="pres">
      <dgm:prSet presAssocID="{078662F5-3415-47EF-89B4-E95D173DF2AE}" presName="bentUpArrow1" presStyleLbl="alignImgPlace1" presStyleIdx="0" presStyleCnt="4"/>
      <dgm:spPr/>
    </dgm:pt>
    <dgm:pt modelId="{2A2E9735-5FFE-4A94-8F66-915CC21DEA04}" type="pres">
      <dgm:prSet presAssocID="{078662F5-3415-47EF-89B4-E95D173DF2AE}" presName="ParentText" presStyleLbl="node1" presStyleIdx="0" presStyleCnt="5" custScaleX="113792">
        <dgm:presLayoutVars>
          <dgm:chMax val="1"/>
          <dgm:chPref val="1"/>
          <dgm:bulletEnabled val="1"/>
        </dgm:presLayoutVars>
      </dgm:prSet>
      <dgm:spPr/>
    </dgm:pt>
    <dgm:pt modelId="{0D89CFE1-E478-4F23-AAB4-57121DE2BB29}" type="pres">
      <dgm:prSet presAssocID="{078662F5-3415-47EF-89B4-E95D173DF2AE}" presName="ChildText" presStyleLbl="revTx" presStyleIdx="0" presStyleCnt="5" custScaleX="383367" custLinFactX="54065" custLinFactNeighborX="100000">
        <dgm:presLayoutVars>
          <dgm:chMax val="0"/>
          <dgm:chPref val="0"/>
          <dgm:bulletEnabled val="1"/>
        </dgm:presLayoutVars>
      </dgm:prSet>
      <dgm:spPr/>
    </dgm:pt>
    <dgm:pt modelId="{86EA2536-FEAA-4BF4-BF31-585E0E603B98}" type="pres">
      <dgm:prSet presAssocID="{784EBF20-5F29-414B-ACE4-799B558A896C}" presName="sibTrans" presStyleCnt="0"/>
      <dgm:spPr/>
    </dgm:pt>
    <dgm:pt modelId="{AC562334-EDB4-4045-A182-705D6EC0E8EA}" type="pres">
      <dgm:prSet presAssocID="{6E7F8EE6-1E52-4C7D-A6F0-65273D0BF323}" presName="composite" presStyleCnt="0"/>
      <dgm:spPr/>
    </dgm:pt>
    <dgm:pt modelId="{CBD15F0F-F27F-4715-8302-A3272B8552CB}" type="pres">
      <dgm:prSet presAssocID="{6E7F8EE6-1E52-4C7D-A6F0-65273D0BF323}" presName="bentUpArrow1" presStyleLbl="alignImgPlace1" presStyleIdx="1" presStyleCnt="4"/>
      <dgm:spPr/>
    </dgm:pt>
    <dgm:pt modelId="{389D62FE-758B-49D2-A4CD-B070E5BF79C9}" type="pres">
      <dgm:prSet presAssocID="{6E7F8EE6-1E52-4C7D-A6F0-65273D0BF323}" presName="ParentText" presStyleLbl="node1" presStyleIdx="1" presStyleCnt="5" custScaleX="113792">
        <dgm:presLayoutVars>
          <dgm:chMax val="1"/>
          <dgm:chPref val="1"/>
          <dgm:bulletEnabled val="1"/>
        </dgm:presLayoutVars>
      </dgm:prSet>
      <dgm:spPr/>
    </dgm:pt>
    <dgm:pt modelId="{4A74337B-3341-426D-A634-F171204CC35E}" type="pres">
      <dgm:prSet presAssocID="{6E7F8EE6-1E52-4C7D-A6F0-65273D0BF323}" presName="ChildText" presStyleLbl="revTx" presStyleIdx="1" presStyleCnt="5" custScaleX="383367" custLinFactX="54065" custLinFactNeighborX="100000">
        <dgm:presLayoutVars>
          <dgm:chMax val="0"/>
          <dgm:chPref val="0"/>
          <dgm:bulletEnabled val="1"/>
        </dgm:presLayoutVars>
      </dgm:prSet>
      <dgm:spPr/>
    </dgm:pt>
    <dgm:pt modelId="{19F313BB-A797-429E-B2D5-96877D7B9AC0}" type="pres">
      <dgm:prSet presAssocID="{92437B9F-C85A-4B9C-A567-9185AB2C705E}" presName="sibTrans" presStyleCnt="0"/>
      <dgm:spPr/>
    </dgm:pt>
    <dgm:pt modelId="{7AFDF419-D3CD-4329-8FEB-BA4CE262F544}" type="pres">
      <dgm:prSet presAssocID="{50B0A558-7F47-416E-B3F6-0841AC158E08}" presName="composite" presStyleCnt="0"/>
      <dgm:spPr/>
    </dgm:pt>
    <dgm:pt modelId="{3637FC08-D62C-43B8-B510-C6D9DA1C9A76}" type="pres">
      <dgm:prSet presAssocID="{50B0A558-7F47-416E-B3F6-0841AC158E08}" presName="bentUpArrow1" presStyleLbl="alignImgPlace1" presStyleIdx="2" presStyleCnt="4"/>
      <dgm:spPr/>
    </dgm:pt>
    <dgm:pt modelId="{29D0DB33-D600-4DE8-9264-294411EC98B0}" type="pres">
      <dgm:prSet presAssocID="{50B0A558-7F47-416E-B3F6-0841AC158E08}" presName="ParentText" presStyleLbl="node1" presStyleIdx="2" presStyleCnt="5" custScaleX="113792">
        <dgm:presLayoutVars>
          <dgm:chMax val="1"/>
          <dgm:chPref val="1"/>
          <dgm:bulletEnabled val="1"/>
        </dgm:presLayoutVars>
      </dgm:prSet>
      <dgm:spPr/>
    </dgm:pt>
    <dgm:pt modelId="{1DF406E7-6485-41FE-A529-CEC4184DC339}" type="pres">
      <dgm:prSet presAssocID="{50B0A558-7F47-416E-B3F6-0841AC158E08}" presName="ChildText" presStyleLbl="revTx" presStyleIdx="2" presStyleCnt="5" custScaleX="383367" custLinFactX="52676" custLinFactNeighborX="100000">
        <dgm:presLayoutVars>
          <dgm:chMax val="0"/>
          <dgm:chPref val="0"/>
          <dgm:bulletEnabled val="1"/>
        </dgm:presLayoutVars>
      </dgm:prSet>
      <dgm:spPr/>
    </dgm:pt>
    <dgm:pt modelId="{8B71BDF4-9AAA-4307-B0A6-E6F60A9B5FE7}" type="pres">
      <dgm:prSet presAssocID="{7CE40052-0DEC-41F5-9B88-1AB8AC615099}" presName="sibTrans" presStyleCnt="0"/>
      <dgm:spPr/>
    </dgm:pt>
    <dgm:pt modelId="{E6FF175F-40DA-4F3A-9451-DD278B6078A5}" type="pres">
      <dgm:prSet presAssocID="{4AAC2140-7FF3-4E3C-8746-FF3AC09506CD}" presName="composite" presStyleCnt="0"/>
      <dgm:spPr/>
    </dgm:pt>
    <dgm:pt modelId="{B929C6F5-50CA-4A8D-973E-F80D5DA6AC6B}" type="pres">
      <dgm:prSet presAssocID="{4AAC2140-7FF3-4E3C-8746-FF3AC09506CD}" presName="bentUpArrow1" presStyleLbl="alignImgPlace1" presStyleIdx="3" presStyleCnt="4"/>
      <dgm:spPr/>
    </dgm:pt>
    <dgm:pt modelId="{23F717E0-801D-451D-81F9-C11C85DF576E}" type="pres">
      <dgm:prSet presAssocID="{4AAC2140-7FF3-4E3C-8746-FF3AC09506CD}" presName="ParentText" presStyleLbl="node1" presStyleIdx="3" presStyleCnt="5" custScaleX="113792">
        <dgm:presLayoutVars>
          <dgm:chMax val="1"/>
          <dgm:chPref val="1"/>
          <dgm:bulletEnabled val="1"/>
        </dgm:presLayoutVars>
      </dgm:prSet>
      <dgm:spPr/>
    </dgm:pt>
    <dgm:pt modelId="{52926AAA-FADB-4D56-A8AE-B60DE638EEE3}" type="pres">
      <dgm:prSet presAssocID="{4AAC2140-7FF3-4E3C-8746-FF3AC09506CD}" presName="ChildText" presStyleLbl="revTx" presStyleIdx="3" presStyleCnt="5" custScaleX="358920" custLinFactX="42241" custLinFactNeighborX="100000" custLinFactNeighborY="-2095">
        <dgm:presLayoutVars>
          <dgm:chMax val="0"/>
          <dgm:chPref val="0"/>
          <dgm:bulletEnabled val="1"/>
        </dgm:presLayoutVars>
      </dgm:prSet>
      <dgm:spPr/>
    </dgm:pt>
    <dgm:pt modelId="{DFE323FB-DC38-410A-A082-7CC770813569}" type="pres">
      <dgm:prSet presAssocID="{21D94686-9626-4747-8DC1-94EA94C200DB}" presName="sibTrans" presStyleCnt="0"/>
      <dgm:spPr/>
    </dgm:pt>
    <dgm:pt modelId="{3B92F6F8-7641-4066-9E9F-ED62E07C798D}" type="pres">
      <dgm:prSet presAssocID="{EB221CC0-7DB9-49C0-A2C1-CBA94BA9FEA5}" presName="composite" presStyleCnt="0"/>
      <dgm:spPr/>
    </dgm:pt>
    <dgm:pt modelId="{05317462-0080-40BE-B930-DB78299EBA03}" type="pres">
      <dgm:prSet presAssocID="{EB221CC0-7DB9-49C0-A2C1-CBA94BA9FEA5}" presName="ParentText" presStyleLbl="node1" presStyleIdx="4" presStyleCnt="5" custScaleX="113792" custLinFactNeighborX="-7070">
        <dgm:presLayoutVars>
          <dgm:chMax val="1"/>
          <dgm:chPref val="1"/>
          <dgm:bulletEnabled val="1"/>
        </dgm:presLayoutVars>
      </dgm:prSet>
      <dgm:spPr/>
    </dgm:pt>
    <dgm:pt modelId="{50808D49-FD1B-496D-AC26-52667D253A0C}" type="pres">
      <dgm:prSet presAssocID="{EB221CC0-7DB9-49C0-A2C1-CBA94BA9FEA5}" presName="FinalChildText" presStyleLbl="revTx" presStyleIdx="4" presStyleCnt="5" custScaleX="249242" custLinFactNeighborX="87985" custLinFactNeighborY="-3571">
        <dgm:presLayoutVars>
          <dgm:chMax val="0"/>
          <dgm:chPref val="0"/>
          <dgm:bulletEnabled val="1"/>
        </dgm:presLayoutVars>
      </dgm:prSet>
      <dgm:spPr/>
    </dgm:pt>
  </dgm:ptLst>
  <dgm:cxnLst>
    <dgm:cxn modelId="{00634500-ABB4-48EB-99CA-0E9F63AF5564}" srcId="{84A91521-AD80-4DB1-8474-2C4B2AF66624}" destId="{4AAC2140-7FF3-4E3C-8746-FF3AC09506CD}" srcOrd="3" destOrd="0" parTransId="{3E055D2A-7333-49E7-B223-59F17E4C499E}" sibTransId="{21D94686-9626-4747-8DC1-94EA94C200DB}"/>
    <dgm:cxn modelId="{CBB76807-E3F4-4FAB-870D-1FCF3097FAF0}" type="presOf" srcId="{078662F5-3415-47EF-89B4-E95D173DF2AE}" destId="{2A2E9735-5FFE-4A94-8F66-915CC21DEA04}" srcOrd="0" destOrd="0" presId="urn:microsoft.com/office/officeart/2005/8/layout/StepDownProcess"/>
    <dgm:cxn modelId="{36AAE01A-8C7A-4F76-9ECE-36AD17E2F86B}" srcId="{078662F5-3415-47EF-89B4-E95D173DF2AE}" destId="{8D2B7460-C90E-4755-BDFD-A1EDCCC75022}" srcOrd="1" destOrd="0" parTransId="{E09CAD73-5883-4A5F-BB8B-234810464218}" sibTransId="{4B872027-67EF-4714-B33B-DFDB2A0324A5}"/>
    <dgm:cxn modelId="{451C5E1B-7337-41C3-B986-EE3E35DEC481}" type="presOf" srcId="{E918AF20-35AB-4F2B-8A0C-7D80C4E39A1D}" destId="{0D89CFE1-E478-4F23-AAB4-57121DE2BB29}" srcOrd="0" destOrd="0" presId="urn:microsoft.com/office/officeart/2005/8/layout/StepDownProcess"/>
    <dgm:cxn modelId="{AF644526-4DD9-46A3-B870-683CC7B7B2EC}" type="presOf" srcId="{84A91521-AD80-4DB1-8474-2C4B2AF66624}" destId="{1216B74B-661E-426A-ABEB-ED9A92CAF764}" srcOrd="0" destOrd="0" presId="urn:microsoft.com/office/officeart/2005/8/layout/StepDownProcess"/>
    <dgm:cxn modelId="{9A69AD2C-D4A9-460C-8E82-370098B05ED5}" type="presOf" srcId="{12EDA2EB-62C8-4896-BE9D-8B3E362463BD}" destId="{50808D49-FD1B-496D-AC26-52667D253A0C}" srcOrd="0" destOrd="1" presId="urn:microsoft.com/office/officeart/2005/8/layout/StepDownProcess"/>
    <dgm:cxn modelId="{BE7E6731-AE2B-423B-8931-EAE66E272DC9}" srcId="{50B0A558-7F47-416E-B3F6-0841AC158E08}" destId="{ACB02906-4371-4DBC-BC97-7A15F3F721E1}" srcOrd="2" destOrd="0" parTransId="{24016FC1-C00C-4953-B9F1-6849980D2F82}" sibTransId="{98E97AEB-085F-4E42-975B-2863F9C5BA11}"/>
    <dgm:cxn modelId="{AE0DB633-9F67-4280-BE59-291F94737263}" srcId="{6E7F8EE6-1E52-4C7D-A6F0-65273D0BF323}" destId="{380ACE95-8B91-4782-9D66-C3CBED51BBF2}" srcOrd="1" destOrd="0" parTransId="{BCBB1AE0-33C5-4C8A-B8FA-55B2C3433754}" sibTransId="{65E78818-6E96-4D03-91B6-E893877F97C7}"/>
    <dgm:cxn modelId="{D5A5F035-CE43-4170-B5E5-B80B324CF4B8}" srcId="{84A91521-AD80-4DB1-8474-2C4B2AF66624}" destId="{078662F5-3415-47EF-89B4-E95D173DF2AE}" srcOrd="0" destOrd="0" parTransId="{25743DF9-7F65-4264-BE7F-49854FBAEAA8}" sibTransId="{784EBF20-5F29-414B-ACE4-799B558A896C}"/>
    <dgm:cxn modelId="{CC067D3B-60F2-4D12-AEB8-1F427B7AC2C0}" type="presOf" srcId="{E5CC9E7B-1C7B-47E0-AF66-04DC1ECED221}" destId="{1DF406E7-6485-41FE-A529-CEC4184DC339}" srcOrd="0" destOrd="1" presId="urn:microsoft.com/office/officeart/2005/8/layout/StepDownProcess"/>
    <dgm:cxn modelId="{9043085B-CBE3-478F-A4E2-5459F7B5215B}" type="presOf" srcId="{B9A8DF46-002B-48C1-8E9B-656E55A80F50}" destId="{4A74337B-3341-426D-A634-F171204CC35E}" srcOrd="0" destOrd="3" presId="urn:microsoft.com/office/officeart/2005/8/layout/StepDownProcess"/>
    <dgm:cxn modelId="{F61E755E-F701-4B60-AF02-93852D22C0B4}" srcId="{078662F5-3415-47EF-89B4-E95D173DF2AE}" destId="{C1C0790A-90A0-475F-9923-521E8F9E1324}" srcOrd="2" destOrd="0" parTransId="{C7FFF152-114D-4AC8-B38E-81CE32B66AF3}" sibTransId="{B8373012-EEC4-49FA-B0A1-80F65CE30F67}"/>
    <dgm:cxn modelId="{29A2B84E-8B80-4794-A149-9EE1128989DD}" type="presOf" srcId="{50B0A558-7F47-416E-B3F6-0841AC158E08}" destId="{29D0DB33-D600-4DE8-9264-294411EC98B0}" srcOrd="0" destOrd="0" presId="urn:microsoft.com/office/officeart/2005/8/layout/StepDownProcess"/>
    <dgm:cxn modelId="{03E7954F-9445-4DB7-93DF-B673E0421644}" type="presOf" srcId="{2D73338A-9471-4FAF-8EE6-3B520BCCD918}" destId="{4A74337B-3341-426D-A634-F171204CC35E}" srcOrd="0" destOrd="0" presId="urn:microsoft.com/office/officeart/2005/8/layout/StepDownProcess"/>
    <dgm:cxn modelId="{4304F450-CFDE-49B1-8198-D2B088FE0F61}" srcId="{84A91521-AD80-4DB1-8474-2C4B2AF66624}" destId="{EB221CC0-7DB9-49C0-A2C1-CBA94BA9FEA5}" srcOrd="4" destOrd="0" parTransId="{CD40F587-913C-408D-866F-4F017B181021}" sibTransId="{73FB4C28-3696-4DD5-92F3-B20F6DD3E539}"/>
    <dgm:cxn modelId="{0F990D75-2127-4286-9545-BF2C5F878B19}" srcId="{6E7F8EE6-1E52-4C7D-A6F0-65273D0BF323}" destId="{2D73338A-9471-4FAF-8EE6-3B520BCCD918}" srcOrd="0" destOrd="0" parTransId="{BBCFD766-16F7-4863-A328-F8C721B8FB7E}" sibTransId="{0AB53342-2BC0-4E72-81F6-CE2C69736714}"/>
    <dgm:cxn modelId="{16EC3156-DBB6-48C9-939C-F97A6687E701}" srcId="{6E7F8EE6-1E52-4C7D-A6F0-65273D0BF323}" destId="{B9A8DF46-002B-48C1-8E9B-656E55A80F50}" srcOrd="3" destOrd="0" parTransId="{BB48EA26-56F2-4B25-8AD1-DF2CE1B2C75B}" sibTransId="{7C6357E5-7116-494A-A6F3-8DE549F9872F}"/>
    <dgm:cxn modelId="{999A1980-AA38-41C3-B321-5E82EB943AB5}" type="presOf" srcId="{8D2B7460-C90E-4755-BDFD-A1EDCCC75022}" destId="{0D89CFE1-E478-4F23-AAB4-57121DE2BB29}" srcOrd="0" destOrd="1" presId="urn:microsoft.com/office/officeart/2005/8/layout/StepDownProcess"/>
    <dgm:cxn modelId="{E095E681-BF5E-41D4-BDDC-0165248AAA52}" srcId="{84A91521-AD80-4DB1-8474-2C4B2AF66624}" destId="{6E7F8EE6-1E52-4C7D-A6F0-65273D0BF323}" srcOrd="1" destOrd="0" parTransId="{A7B96440-FD65-4504-94EA-C9D909BADB1E}" sibTransId="{92437B9F-C85A-4B9C-A567-9185AB2C705E}"/>
    <dgm:cxn modelId="{DB57128D-F1DB-49F6-A3ED-B2EDD475B414}" type="presOf" srcId="{8A967491-2EB3-4DED-9942-A0665EE34D97}" destId="{4A74337B-3341-426D-A634-F171204CC35E}" srcOrd="0" destOrd="2" presId="urn:microsoft.com/office/officeart/2005/8/layout/StepDownProcess"/>
    <dgm:cxn modelId="{7ED6618D-5341-403A-8A5A-C7B800D1CA4B}" srcId="{EB221CC0-7DB9-49C0-A2C1-CBA94BA9FEA5}" destId="{63C0C027-1E58-4EC6-AB5C-0BC2D91FB569}" srcOrd="2" destOrd="0" parTransId="{BA5D388E-F41F-4ACC-8463-51FA094CD595}" sibTransId="{B2B2C3C2-8D59-4D1B-B4F4-2DC2A30FAE36}"/>
    <dgm:cxn modelId="{3B01669A-6431-405B-B66C-0243B6454358}" type="presOf" srcId="{63C0C027-1E58-4EC6-AB5C-0BC2D91FB569}" destId="{50808D49-FD1B-496D-AC26-52667D253A0C}" srcOrd="0" destOrd="2" presId="urn:microsoft.com/office/officeart/2005/8/layout/StepDownProcess"/>
    <dgm:cxn modelId="{6573F39A-592C-48EA-950A-2E56193386B0}" srcId="{078662F5-3415-47EF-89B4-E95D173DF2AE}" destId="{E918AF20-35AB-4F2B-8A0C-7D80C4E39A1D}" srcOrd="0" destOrd="0" parTransId="{6FB4B71F-4A6A-4320-87A8-288BF8BEA600}" sibTransId="{4FE280DB-9B93-47B6-A2D3-7DAF0CFC89CF}"/>
    <dgm:cxn modelId="{818D92A2-3224-4F0F-9B22-439ADB1E11BE}" srcId="{6E7F8EE6-1E52-4C7D-A6F0-65273D0BF323}" destId="{8A967491-2EB3-4DED-9942-A0665EE34D97}" srcOrd="2" destOrd="0" parTransId="{08005517-34AA-4723-822E-9881051840DA}" sibTransId="{4FCE4CB4-4A0D-4B57-8664-5F3EC39C60B1}"/>
    <dgm:cxn modelId="{C3038AA5-7A6E-4F1E-A616-8504B9E5D552}" type="presOf" srcId="{EB221CC0-7DB9-49C0-A2C1-CBA94BA9FEA5}" destId="{05317462-0080-40BE-B930-DB78299EBA03}" srcOrd="0" destOrd="0" presId="urn:microsoft.com/office/officeart/2005/8/layout/StepDownProcess"/>
    <dgm:cxn modelId="{05B397A9-76D6-4D7C-832B-12A239C1D80D}" srcId="{EB221CC0-7DB9-49C0-A2C1-CBA94BA9FEA5}" destId="{FFB17025-81B5-479A-A316-F59E7EEB6242}" srcOrd="0" destOrd="0" parTransId="{86E3B980-9025-4FD3-9138-8D04289E5BE5}" sibTransId="{BA9EE4A2-405F-4F6D-9F4F-0D25F62E629E}"/>
    <dgm:cxn modelId="{B473C9AE-F80A-4BB3-BEFB-05A9B95BFA5E}" type="presOf" srcId="{C1C0790A-90A0-475F-9923-521E8F9E1324}" destId="{0D89CFE1-E478-4F23-AAB4-57121DE2BB29}" srcOrd="0" destOrd="2" presId="urn:microsoft.com/office/officeart/2005/8/layout/StepDownProcess"/>
    <dgm:cxn modelId="{BEB0EFAE-A226-41C8-99DE-C7DA3AC95DF3}" type="presOf" srcId="{380ACE95-8B91-4782-9D66-C3CBED51BBF2}" destId="{4A74337B-3341-426D-A634-F171204CC35E}" srcOrd="0" destOrd="1" presId="urn:microsoft.com/office/officeart/2005/8/layout/StepDownProcess"/>
    <dgm:cxn modelId="{444B85B1-3F90-4168-8FD9-82C7AC07DF72}" srcId="{50B0A558-7F47-416E-B3F6-0841AC158E08}" destId="{AC41FC91-4290-4C1E-8546-F0C1F83052A9}" srcOrd="3" destOrd="0" parTransId="{81E8A17F-8311-4D5F-B032-BB50BFE4C303}" sibTransId="{6196E888-AD39-47DD-8394-C59AA4FDADB1}"/>
    <dgm:cxn modelId="{88BF48B4-D5BD-4F6C-8E1F-710A0F14F65C}" srcId="{4AAC2140-7FF3-4E3C-8746-FF3AC09506CD}" destId="{1EF962CE-38C9-480B-B54F-7C9A9F809D32}" srcOrd="1" destOrd="0" parTransId="{F71F01B5-A6C8-475F-A2FB-CBFAD19062D2}" sibTransId="{CEB4B0A4-BF37-455F-A34E-0AB560148C5C}"/>
    <dgm:cxn modelId="{F12DF0BD-0DA2-4A12-A33A-CEC7BA4E6CD3}" type="presOf" srcId="{AC41FC91-4290-4C1E-8546-F0C1F83052A9}" destId="{1DF406E7-6485-41FE-A529-CEC4184DC339}" srcOrd="0" destOrd="3" presId="urn:microsoft.com/office/officeart/2005/8/layout/StepDownProcess"/>
    <dgm:cxn modelId="{EC799ABF-C436-4B17-90B3-485645A9135B}" type="presOf" srcId="{FFB17025-81B5-479A-A316-F59E7EEB6242}" destId="{50808D49-FD1B-496D-AC26-52667D253A0C}" srcOrd="0" destOrd="0" presId="urn:microsoft.com/office/officeart/2005/8/layout/StepDownProcess"/>
    <dgm:cxn modelId="{2106B4C5-6F17-4DA7-B8E6-F584F8CD500A}" type="presOf" srcId="{1EF962CE-38C9-480B-B54F-7C9A9F809D32}" destId="{52926AAA-FADB-4D56-A8AE-B60DE638EEE3}" srcOrd="0" destOrd="1" presId="urn:microsoft.com/office/officeart/2005/8/layout/StepDownProcess"/>
    <dgm:cxn modelId="{38FED6CD-9D2A-4B0C-A30D-F3D7D25A8ED8}" type="presOf" srcId="{01C3ECAF-E514-47C4-B8AC-221E4643C3AD}" destId="{52926AAA-FADB-4D56-A8AE-B60DE638EEE3}" srcOrd="0" destOrd="0" presId="urn:microsoft.com/office/officeart/2005/8/layout/StepDownProcess"/>
    <dgm:cxn modelId="{57C8A4CF-B4E9-43FD-8FDF-187F256B2836}" srcId="{84A91521-AD80-4DB1-8474-2C4B2AF66624}" destId="{50B0A558-7F47-416E-B3F6-0841AC158E08}" srcOrd="2" destOrd="0" parTransId="{E9AC0238-8617-4A0E-96F7-0549079B9448}" sibTransId="{7CE40052-0DEC-41F5-9B88-1AB8AC615099}"/>
    <dgm:cxn modelId="{7F4DBBCF-AB97-4E2D-A8E4-10135134A2BC}" type="presOf" srcId="{4AAC2140-7FF3-4E3C-8746-FF3AC09506CD}" destId="{23F717E0-801D-451D-81F9-C11C85DF576E}" srcOrd="0" destOrd="0" presId="urn:microsoft.com/office/officeart/2005/8/layout/StepDownProcess"/>
    <dgm:cxn modelId="{AF8210D0-97DE-48B6-8DEF-054BC42C0D23}" type="presOf" srcId="{6E7F8EE6-1E52-4C7D-A6F0-65273D0BF323}" destId="{389D62FE-758B-49D2-A4CD-B070E5BF79C9}" srcOrd="0" destOrd="0" presId="urn:microsoft.com/office/officeart/2005/8/layout/StepDownProcess"/>
    <dgm:cxn modelId="{600E8ED9-BBD3-4E9F-AC1B-563C354E4E2E}" type="presOf" srcId="{ACB02906-4371-4DBC-BC97-7A15F3F721E1}" destId="{1DF406E7-6485-41FE-A529-CEC4184DC339}" srcOrd="0" destOrd="2" presId="urn:microsoft.com/office/officeart/2005/8/layout/StepDownProcess"/>
    <dgm:cxn modelId="{051AE3EA-8B98-4ACF-827C-58E209E1DEB2}" srcId="{50B0A558-7F47-416E-B3F6-0841AC158E08}" destId="{E5CC9E7B-1C7B-47E0-AF66-04DC1ECED221}" srcOrd="1" destOrd="0" parTransId="{F26EBD63-591B-40E0-BD38-193C91E3F5E2}" sibTransId="{D684E9D0-0B68-4D1A-9AC8-F75DF45EDA77}"/>
    <dgm:cxn modelId="{76CA88F2-C121-4E76-8CBF-1D271F79057D}" srcId="{50B0A558-7F47-416E-B3F6-0841AC158E08}" destId="{EB5D9B0F-D8D9-4158-9224-828CB1ED310E}" srcOrd="0" destOrd="0" parTransId="{41B09B42-A70C-4856-BAB2-BB51A2F456A6}" sibTransId="{00B3B727-C889-4370-A3A5-E7DD1047392A}"/>
    <dgm:cxn modelId="{AD7383F3-3C20-4D9A-AC66-C0E3E6017E6E}" type="presOf" srcId="{EB5D9B0F-D8D9-4158-9224-828CB1ED310E}" destId="{1DF406E7-6485-41FE-A529-CEC4184DC339}" srcOrd="0" destOrd="0" presId="urn:microsoft.com/office/officeart/2005/8/layout/StepDownProcess"/>
    <dgm:cxn modelId="{CAFF65F4-3E58-4105-9A93-B8C9D120ECB7}" srcId="{EB221CC0-7DB9-49C0-A2C1-CBA94BA9FEA5}" destId="{12EDA2EB-62C8-4896-BE9D-8B3E362463BD}" srcOrd="1" destOrd="0" parTransId="{08A2FE48-53BB-40F9-9CE6-29C3D3F51AEF}" sibTransId="{6CCDAD50-63C8-47F3-8804-2220F230CD19}"/>
    <dgm:cxn modelId="{6720D2F5-07E9-4DA6-8E57-DB059C535962}" srcId="{4AAC2140-7FF3-4E3C-8746-FF3AC09506CD}" destId="{01C3ECAF-E514-47C4-B8AC-221E4643C3AD}" srcOrd="0" destOrd="0" parTransId="{F086A24B-E0C2-4BCF-82AA-3BCEEC3C9FDF}" sibTransId="{3239D124-D576-40F6-8CC1-88866C015CF8}"/>
    <dgm:cxn modelId="{F8B6688C-757D-4FF4-AD6C-7078D0B601F9}" type="presParOf" srcId="{1216B74B-661E-426A-ABEB-ED9A92CAF764}" destId="{78321ECB-9BB1-42C5-9049-7FE2FEE153C6}" srcOrd="0" destOrd="0" presId="urn:microsoft.com/office/officeart/2005/8/layout/StepDownProcess"/>
    <dgm:cxn modelId="{AB9F81EA-7BD7-4368-86FA-23E08E848255}" type="presParOf" srcId="{78321ECB-9BB1-42C5-9049-7FE2FEE153C6}" destId="{488C2C83-4C2D-4BCF-B1E8-DB18C12A60A4}" srcOrd="0" destOrd="0" presId="urn:microsoft.com/office/officeart/2005/8/layout/StepDownProcess"/>
    <dgm:cxn modelId="{BC7ADAEC-277B-4F45-AE6E-E41B178864E0}" type="presParOf" srcId="{78321ECB-9BB1-42C5-9049-7FE2FEE153C6}" destId="{2A2E9735-5FFE-4A94-8F66-915CC21DEA04}" srcOrd="1" destOrd="0" presId="urn:microsoft.com/office/officeart/2005/8/layout/StepDownProcess"/>
    <dgm:cxn modelId="{561524E2-ABEE-4B74-9821-264B19C97F92}" type="presParOf" srcId="{78321ECB-9BB1-42C5-9049-7FE2FEE153C6}" destId="{0D89CFE1-E478-4F23-AAB4-57121DE2BB29}" srcOrd="2" destOrd="0" presId="urn:microsoft.com/office/officeart/2005/8/layout/StepDownProcess"/>
    <dgm:cxn modelId="{EEB0AFB4-ACDB-443F-8934-69578D5CC93C}" type="presParOf" srcId="{1216B74B-661E-426A-ABEB-ED9A92CAF764}" destId="{86EA2536-FEAA-4BF4-BF31-585E0E603B98}" srcOrd="1" destOrd="0" presId="urn:microsoft.com/office/officeart/2005/8/layout/StepDownProcess"/>
    <dgm:cxn modelId="{CCC31C22-ABF2-4D5B-8F18-6272429256BD}" type="presParOf" srcId="{1216B74B-661E-426A-ABEB-ED9A92CAF764}" destId="{AC562334-EDB4-4045-A182-705D6EC0E8EA}" srcOrd="2" destOrd="0" presId="urn:microsoft.com/office/officeart/2005/8/layout/StepDownProcess"/>
    <dgm:cxn modelId="{AEF6D242-D606-46DA-B5E4-4119DC7E2144}" type="presParOf" srcId="{AC562334-EDB4-4045-A182-705D6EC0E8EA}" destId="{CBD15F0F-F27F-4715-8302-A3272B8552CB}" srcOrd="0" destOrd="0" presId="urn:microsoft.com/office/officeart/2005/8/layout/StepDownProcess"/>
    <dgm:cxn modelId="{F081BE50-7E08-4D9A-AC44-145B83E48E31}" type="presParOf" srcId="{AC562334-EDB4-4045-A182-705D6EC0E8EA}" destId="{389D62FE-758B-49D2-A4CD-B070E5BF79C9}" srcOrd="1" destOrd="0" presId="urn:microsoft.com/office/officeart/2005/8/layout/StepDownProcess"/>
    <dgm:cxn modelId="{C4EE12A6-7A80-4259-9078-54B030E598BA}" type="presParOf" srcId="{AC562334-EDB4-4045-A182-705D6EC0E8EA}" destId="{4A74337B-3341-426D-A634-F171204CC35E}" srcOrd="2" destOrd="0" presId="urn:microsoft.com/office/officeart/2005/8/layout/StepDownProcess"/>
    <dgm:cxn modelId="{AC5CAE2D-E864-4370-BB98-9AE94BB30572}" type="presParOf" srcId="{1216B74B-661E-426A-ABEB-ED9A92CAF764}" destId="{19F313BB-A797-429E-B2D5-96877D7B9AC0}" srcOrd="3" destOrd="0" presId="urn:microsoft.com/office/officeart/2005/8/layout/StepDownProcess"/>
    <dgm:cxn modelId="{AF01D135-22CF-4520-A249-EB4C5D11277A}" type="presParOf" srcId="{1216B74B-661E-426A-ABEB-ED9A92CAF764}" destId="{7AFDF419-D3CD-4329-8FEB-BA4CE262F544}" srcOrd="4" destOrd="0" presId="urn:microsoft.com/office/officeart/2005/8/layout/StepDownProcess"/>
    <dgm:cxn modelId="{AC655349-B25A-4028-A003-4A682988BAEC}" type="presParOf" srcId="{7AFDF419-D3CD-4329-8FEB-BA4CE262F544}" destId="{3637FC08-D62C-43B8-B510-C6D9DA1C9A76}" srcOrd="0" destOrd="0" presId="urn:microsoft.com/office/officeart/2005/8/layout/StepDownProcess"/>
    <dgm:cxn modelId="{FF157F14-D9CF-4144-BDC7-BBC9F62DAC48}" type="presParOf" srcId="{7AFDF419-D3CD-4329-8FEB-BA4CE262F544}" destId="{29D0DB33-D600-4DE8-9264-294411EC98B0}" srcOrd="1" destOrd="0" presId="urn:microsoft.com/office/officeart/2005/8/layout/StepDownProcess"/>
    <dgm:cxn modelId="{ED7F462C-967B-4FBB-A4C9-C229A3132457}" type="presParOf" srcId="{7AFDF419-D3CD-4329-8FEB-BA4CE262F544}" destId="{1DF406E7-6485-41FE-A529-CEC4184DC339}" srcOrd="2" destOrd="0" presId="urn:microsoft.com/office/officeart/2005/8/layout/StepDownProcess"/>
    <dgm:cxn modelId="{A7B8A9C8-DE41-4E30-875B-6C5A289592DD}" type="presParOf" srcId="{1216B74B-661E-426A-ABEB-ED9A92CAF764}" destId="{8B71BDF4-9AAA-4307-B0A6-E6F60A9B5FE7}" srcOrd="5" destOrd="0" presId="urn:microsoft.com/office/officeart/2005/8/layout/StepDownProcess"/>
    <dgm:cxn modelId="{CA2F9039-A736-40CB-B0A1-DF5019FD5484}" type="presParOf" srcId="{1216B74B-661E-426A-ABEB-ED9A92CAF764}" destId="{E6FF175F-40DA-4F3A-9451-DD278B6078A5}" srcOrd="6" destOrd="0" presId="urn:microsoft.com/office/officeart/2005/8/layout/StepDownProcess"/>
    <dgm:cxn modelId="{364640E0-2A85-44E7-8A82-779BD2578CB6}" type="presParOf" srcId="{E6FF175F-40DA-4F3A-9451-DD278B6078A5}" destId="{B929C6F5-50CA-4A8D-973E-F80D5DA6AC6B}" srcOrd="0" destOrd="0" presId="urn:microsoft.com/office/officeart/2005/8/layout/StepDownProcess"/>
    <dgm:cxn modelId="{1A170C8E-7052-4F14-A645-F1F43BC634A1}" type="presParOf" srcId="{E6FF175F-40DA-4F3A-9451-DD278B6078A5}" destId="{23F717E0-801D-451D-81F9-C11C85DF576E}" srcOrd="1" destOrd="0" presId="urn:microsoft.com/office/officeart/2005/8/layout/StepDownProcess"/>
    <dgm:cxn modelId="{9CA0A128-CB7E-40D6-B292-08B160DD6B28}" type="presParOf" srcId="{E6FF175F-40DA-4F3A-9451-DD278B6078A5}" destId="{52926AAA-FADB-4D56-A8AE-B60DE638EEE3}" srcOrd="2" destOrd="0" presId="urn:microsoft.com/office/officeart/2005/8/layout/StepDownProcess"/>
    <dgm:cxn modelId="{C7565534-23DE-4DF3-BC92-3014111C733C}" type="presParOf" srcId="{1216B74B-661E-426A-ABEB-ED9A92CAF764}" destId="{DFE323FB-DC38-410A-A082-7CC770813569}" srcOrd="7" destOrd="0" presId="urn:microsoft.com/office/officeart/2005/8/layout/StepDownProcess"/>
    <dgm:cxn modelId="{94456AF8-850C-4E4F-9A49-B7436DC9AF3A}" type="presParOf" srcId="{1216B74B-661E-426A-ABEB-ED9A92CAF764}" destId="{3B92F6F8-7641-4066-9E9F-ED62E07C798D}" srcOrd="8" destOrd="0" presId="urn:microsoft.com/office/officeart/2005/8/layout/StepDownProcess"/>
    <dgm:cxn modelId="{7BFD4330-9D15-4F78-B388-5316B334F422}" type="presParOf" srcId="{3B92F6F8-7641-4066-9E9F-ED62E07C798D}" destId="{05317462-0080-40BE-B930-DB78299EBA03}" srcOrd="0" destOrd="0" presId="urn:microsoft.com/office/officeart/2005/8/layout/StepDownProcess"/>
    <dgm:cxn modelId="{7E7368A4-5A72-4131-B63C-0D7360E751FC}" type="presParOf" srcId="{3B92F6F8-7641-4066-9E9F-ED62E07C798D}" destId="{50808D49-FD1B-496D-AC26-52667D253A0C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C2C83-4C2D-4BCF-B1E8-DB18C12A60A4}">
      <dsp:nvSpPr>
        <dsp:cNvPr id="0" name=""/>
        <dsp:cNvSpPr/>
      </dsp:nvSpPr>
      <dsp:spPr>
        <a:xfrm rot="5400000">
          <a:off x="1059918" y="936142"/>
          <a:ext cx="814710" cy="927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E9735-5FFE-4A94-8F66-915CC21DEA04}">
      <dsp:nvSpPr>
        <dsp:cNvPr id="0" name=""/>
        <dsp:cNvSpPr/>
      </dsp:nvSpPr>
      <dsp:spPr>
        <a:xfrm>
          <a:off x="749491" y="33019"/>
          <a:ext cx="1560649" cy="96000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u="none" kern="1200" dirty="0"/>
            <a:t>Identificación del problema y definición de objetivos</a:t>
          </a:r>
          <a:endParaRPr lang="es-CR" sz="1400" b="1" i="1" u="none" kern="1200" dirty="0"/>
        </a:p>
      </dsp:txBody>
      <dsp:txXfrm>
        <a:off x="796363" y="79891"/>
        <a:ext cx="1466905" cy="866256"/>
      </dsp:txXfrm>
    </dsp:sp>
    <dsp:sp modelId="{0D89CFE1-E478-4F23-AAB4-57121DE2BB29}">
      <dsp:nvSpPr>
        <dsp:cNvPr id="0" name=""/>
        <dsp:cNvSpPr/>
      </dsp:nvSpPr>
      <dsp:spPr>
        <a:xfrm>
          <a:off x="2339067" y="124577"/>
          <a:ext cx="3824060" cy="775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Equipos de 3/4 personas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Entregable: Plan del proyecto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Fecha de entrega: Semana 6</a:t>
          </a:r>
        </a:p>
      </dsp:txBody>
      <dsp:txXfrm>
        <a:off x="2339067" y="124577"/>
        <a:ext cx="3824060" cy="775914"/>
      </dsp:txXfrm>
    </dsp:sp>
    <dsp:sp modelId="{CBD15F0F-F27F-4715-8302-A3272B8552CB}">
      <dsp:nvSpPr>
        <dsp:cNvPr id="0" name=""/>
        <dsp:cNvSpPr/>
      </dsp:nvSpPr>
      <dsp:spPr>
        <a:xfrm rot="5400000">
          <a:off x="2920805" y="2014539"/>
          <a:ext cx="814710" cy="927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9D62FE-758B-49D2-A4CD-B070E5BF79C9}">
      <dsp:nvSpPr>
        <dsp:cNvPr id="0" name=""/>
        <dsp:cNvSpPr/>
      </dsp:nvSpPr>
      <dsp:spPr>
        <a:xfrm>
          <a:off x="2610378" y="1111416"/>
          <a:ext cx="1560649" cy="96000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b="1" i="1" kern="1200" dirty="0"/>
            <a:t>Planeación</a:t>
          </a:r>
        </a:p>
      </dsp:txBody>
      <dsp:txXfrm>
        <a:off x="2657250" y="1158288"/>
        <a:ext cx="1466905" cy="866256"/>
      </dsp:txXfrm>
    </dsp:sp>
    <dsp:sp modelId="{4A74337B-3341-426D-A634-F171204CC35E}">
      <dsp:nvSpPr>
        <dsp:cNvPr id="0" name=""/>
        <dsp:cNvSpPr/>
      </dsp:nvSpPr>
      <dsp:spPr>
        <a:xfrm>
          <a:off x="4199954" y="1202974"/>
          <a:ext cx="3824060" cy="775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Seleccionar tipos de pruebas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Definir 60 casos de pruebas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Entregable: Plan de pruebas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Fecha de entrega: Semana 11</a:t>
          </a:r>
        </a:p>
      </dsp:txBody>
      <dsp:txXfrm>
        <a:off x="4199954" y="1202974"/>
        <a:ext cx="3824060" cy="775914"/>
      </dsp:txXfrm>
    </dsp:sp>
    <dsp:sp modelId="{3637FC08-D62C-43B8-B510-C6D9DA1C9A76}">
      <dsp:nvSpPr>
        <dsp:cNvPr id="0" name=""/>
        <dsp:cNvSpPr/>
      </dsp:nvSpPr>
      <dsp:spPr>
        <a:xfrm rot="5400000">
          <a:off x="4781692" y="3092937"/>
          <a:ext cx="814710" cy="927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0DB33-D600-4DE8-9264-294411EC98B0}">
      <dsp:nvSpPr>
        <dsp:cNvPr id="0" name=""/>
        <dsp:cNvSpPr/>
      </dsp:nvSpPr>
      <dsp:spPr>
        <a:xfrm>
          <a:off x="4471265" y="2189814"/>
          <a:ext cx="1560649" cy="96000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u="none" kern="1200" dirty="0"/>
            <a:t>Diseño, Desarrollo y Evaluación</a:t>
          </a:r>
          <a:endParaRPr lang="es-CR" sz="1400" b="1" i="1" u="none" kern="1200" dirty="0"/>
        </a:p>
      </dsp:txBody>
      <dsp:txXfrm>
        <a:off x="4518137" y="2236686"/>
        <a:ext cx="1466905" cy="866256"/>
      </dsp:txXfrm>
    </dsp:sp>
    <dsp:sp modelId="{1DF406E7-6485-41FE-A529-CEC4184DC339}">
      <dsp:nvSpPr>
        <dsp:cNvPr id="0" name=""/>
        <dsp:cNvSpPr/>
      </dsp:nvSpPr>
      <dsp:spPr>
        <a:xfrm>
          <a:off x="6046986" y="2281372"/>
          <a:ext cx="3824060" cy="775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Automatizar pruebas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Documentar defectos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Entregable: Proyecto de pruebas e Informe de pruebas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Fecha de entrega: Semana </a:t>
          </a:r>
          <a:r>
            <a:rPr lang="es-CR" sz="1200" kern="1200" dirty="0">
              <a:latin typeface="Calibri Light" panose="020F0302020204030204"/>
            </a:rPr>
            <a:t>16 y</a:t>
          </a:r>
          <a:r>
            <a:rPr lang="es-CR" sz="1200" kern="1200" dirty="0"/>
            <a:t> Semana 17</a:t>
          </a:r>
        </a:p>
      </dsp:txBody>
      <dsp:txXfrm>
        <a:off x="6046986" y="2281372"/>
        <a:ext cx="3824060" cy="775914"/>
      </dsp:txXfrm>
    </dsp:sp>
    <dsp:sp modelId="{B929C6F5-50CA-4A8D-973E-F80D5DA6AC6B}">
      <dsp:nvSpPr>
        <dsp:cNvPr id="0" name=""/>
        <dsp:cNvSpPr/>
      </dsp:nvSpPr>
      <dsp:spPr>
        <a:xfrm rot="5400000">
          <a:off x="6642580" y="4171334"/>
          <a:ext cx="814710" cy="9275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F717E0-801D-451D-81F9-C11C85DF576E}">
      <dsp:nvSpPr>
        <dsp:cNvPr id="0" name=""/>
        <dsp:cNvSpPr/>
      </dsp:nvSpPr>
      <dsp:spPr>
        <a:xfrm>
          <a:off x="6332153" y="3268211"/>
          <a:ext cx="1560649" cy="96000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b="1" i="1" kern="1200" dirty="0"/>
            <a:t>Comunicación</a:t>
          </a:r>
        </a:p>
      </dsp:txBody>
      <dsp:txXfrm>
        <a:off x="6379025" y="3315083"/>
        <a:ext cx="1466905" cy="866256"/>
      </dsp:txXfrm>
    </dsp:sp>
    <dsp:sp modelId="{52926AAA-FADB-4D56-A8AE-B60DE638EEE3}">
      <dsp:nvSpPr>
        <dsp:cNvPr id="0" name=""/>
        <dsp:cNvSpPr/>
      </dsp:nvSpPr>
      <dsp:spPr>
        <a:xfrm>
          <a:off x="7925713" y="3343514"/>
          <a:ext cx="3580203" cy="775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Entregable: Presentación de pruebas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Fecha de entrega: Semana 17</a:t>
          </a:r>
        </a:p>
      </dsp:txBody>
      <dsp:txXfrm>
        <a:off x="7925713" y="3343514"/>
        <a:ext cx="3580203" cy="775914"/>
      </dsp:txXfrm>
    </dsp:sp>
    <dsp:sp modelId="{05317462-0080-40BE-B930-DB78299EBA03}">
      <dsp:nvSpPr>
        <dsp:cNvPr id="0" name=""/>
        <dsp:cNvSpPr/>
      </dsp:nvSpPr>
      <dsp:spPr>
        <a:xfrm>
          <a:off x="8096075" y="4346609"/>
          <a:ext cx="1560649" cy="96000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b="1" i="1" kern="1200" dirty="0"/>
            <a:t>Reflexión</a:t>
          </a:r>
        </a:p>
      </dsp:txBody>
      <dsp:txXfrm>
        <a:off x="8142947" y="4393481"/>
        <a:ext cx="1466905" cy="866256"/>
      </dsp:txXfrm>
    </dsp:sp>
    <dsp:sp modelId="{50808D49-FD1B-496D-AC26-52667D253A0C}">
      <dsp:nvSpPr>
        <dsp:cNvPr id="0" name=""/>
        <dsp:cNvSpPr/>
      </dsp:nvSpPr>
      <dsp:spPr>
        <a:xfrm>
          <a:off x="9664263" y="4410459"/>
          <a:ext cx="2486172" cy="775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Se desarrolla de manera </a:t>
          </a:r>
          <a:r>
            <a:rPr lang="es-CR" sz="1200" b="1" kern="1200" dirty="0"/>
            <a:t>individual</a:t>
          </a:r>
          <a:r>
            <a:rPr lang="es-CR" sz="1200" kern="1200" dirty="0"/>
            <a:t> de forma paralela al resto de fases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Entregable: Diario reflexivo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R" sz="1200" kern="1200" dirty="0"/>
            <a:t>Fecha de entrega: Semana 17</a:t>
          </a:r>
        </a:p>
      </dsp:txBody>
      <dsp:txXfrm>
        <a:off x="9664263" y="4410459"/>
        <a:ext cx="2486172" cy="775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33575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258425" y="0"/>
            <a:ext cx="193357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115" y="3155160"/>
            <a:ext cx="6086475" cy="34575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995198"/>
            <a:ext cx="9144000" cy="864000"/>
          </a:xfrm>
        </p:spPr>
        <p:txBody>
          <a:bodyPr anchor="ctr">
            <a:normAutofit/>
          </a:bodyPr>
          <a:lstStyle>
            <a:lvl1pPr algn="ctr">
              <a:defRPr sz="5500" baseline="0">
                <a:solidFill>
                  <a:srgbClr val="409CD6"/>
                </a:solidFill>
                <a:latin typeface="Impact" panose="020B0806030902050204" pitchFamily="34" charset="0"/>
              </a:defRPr>
            </a:lvl1pPr>
          </a:lstStyle>
          <a:p>
            <a:r>
              <a:rPr lang="es-419" dirty="0"/>
              <a:t>Haga clic para editar título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350294"/>
            <a:ext cx="9144000" cy="804866"/>
          </a:xfrm>
        </p:spPr>
        <p:txBody>
          <a:bodyPr anchor="ctr">
            <a:normAutofit/>
          </a:bodyPr>
          <a:lstStyle>
            <a:lvl1pPr marL="0" indent="0" algn="ctr">
              <a:buNone/>
              <a:defRPr sz="3700" baseline="0">
                <a:solidFill>
                  <a:srgbClr val="686A7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419" dirty="0"/>
              <a:t>Haga clic para editar subtítulo</a:t>
            </a:r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AC47-3FB3-4DFE-AD68-EB86198FEA3B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65D-3404-4E99-AAEB-560672165C59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784" y="2066646"/>
            <a:ext cx="5991225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62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01800"/>
            <a:ext cx="8532000" cy="571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625" y="0"/>
            <a:ext cx="338137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0031"/>
            <a:ext cx="8445500" cy="1325563"/>
          </a:xfrm>
        </p:spPr>
        <p:txBody>
          <a:bodyPr>
            <a:normAutofit/>
          </a:bodyPr>
          <a:lstStyle>
            <a:lvl1pPr>
              <a:defRPr sz="5500">
                <a:solidFill>
                  <a:srgbClr val="409CD6"/>
                </a:solidFill>
                <a:latin typeface="Impact" panose="020B080603090205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445500" cy="4351338"/>
          </a:xfrm>
        </p:spPr>
        <p:txBody>
          <a:bodyPr>
            <a:normAutofit/>
          </a:bodyPr>
          <a:lstStyle>
            <a:lvl1pPr marL="0" indent="0">
              <a:buNone/>
              <a:defRPr sz="3700">
                <a:solidFill>
                  <a:srgbClr val="686A7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AC47-3FB3-4DFE-AD68-EB86198FEA3B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65D-3404-4E99-AAEB-560672165C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224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solidFill>
          <a:srgbClr val="409C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625" y="0"/>
            <a:ext cx="338137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43900" cy="1325563"/>
          </a:xfrm>
        </p:spPr>
        <p:txBody>
          <a:bodyPr>
            <a:normAutofit/>
          </a:bodyPr>
          <a:lstStyle>
            <a:lvl1pPr>
              <a:defRPr sz="5500">
                <a:solidFill>
                  <a:srgbClr val="0E4051"/>
                </a:solidFill>
                <a:latin typeface="Impact" panose="020B080603090205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pt-B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AC47-3FB3-4DFE-AD68-EB86198FEA3B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65D-3404-4E99-AAEB-560672165C59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38200" y="2098675"/>
            <a:ext cx="8343900" cy="3927475"/>
          </a:xfrm>
        </p:spPr>
        <p:txBody>
          <a:bodyPr>
            <a:normAutofit/>
          </a:bodyPr>
          <a:lstStyle>
            <a:lvl1pPr marL="0" indent="0">
              <a:buNone/>
              <a:defRPr sz="37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838200" y="1847706"/>
            <a:ext cx="8344800" cy="6494"/>
          </a:xfrm>
          <a:prstGeom prst="line">
            <a:avLst/>
          </a:prstGeom>
          <a:ln w="41275">
            <a:solidFill>
              <a:schemeClr val="bg1"/>
            </a:solidFill>
            <a:headEnd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72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 de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-2" y="1876037"/>
            <a:ext cx="6098400" cy="4978800"/>
          </a:xfrm>
          <a:prstGeom prst="rect">
            <a:avLst/>
          </a:prstGeom>
          <a:solidFill>
            <a:srgbClr val="409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ctangle 2"/>
          <p:cNvSpPr/>
          <p:nvPr userDrawn="1"/>
        </p:nvSpPr>
        <p:spPr>
          <a:xfrm>
            <a:off x="6096003" y="1884506"/>
            <a:ext cx="6098400" cy="4978800"/>
          </a:xfrm>
          <a:prstGeom prst="rect">
            <a:avLst/>
          </a:prstGeom>
          <a:solidFill>
            <a:srgbClr val="EDE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0"/>
          </p:nvPr>
        </p:nvSpPr>
        <p:spPr>
          <a:xfrm>
            <a:off x="347137" y="1955103"/>
            <a:ext cx="5400000" cy="4371426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3700">
                <a:solidFill>
                  <a:srgbClr val="EDEDE3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s-ES"/>
              <a:t>Editar los estilos de texto del patrón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9404"/>
            <a:ext cx="12192000" cy="8251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3299" y="2"/>
            <a:ext cx="7632000" cy="1786948"/>
          </a:xfrm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>
            <a:normAutofit/>
          </a:bodyPr>
          <a:lstStyle>
            <a:lvl1pPr algn="ctr">
              <a:defRPr sz="5500">
                <a:solidFill>
                  <a:srgbClr val="409CD6"/>
                </a:solidFill>
                <a:latin typeface="Impact" panose="020B080603090205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pt-B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3156" y="1952241"/>
            <a:ext cx="5400000" cy="4370400"/>
          </a:xfrm>
          <a:noFill/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3700">
                <a:solidFill>
                  <a:srgbClr val="409CD6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s-ES"/>
              <a:t>Editar los estilos de texto del patrón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851" y="1915675"/>
            <a:ext cx="493370" cy="49391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441161"/>
            <a:ext cx="2095500" cy="98663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151" y="288632"/>
            <a:ext cx="2139372" cy="1007288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3ECAC47-3FB3-4DFE-AD68-EB86198FEA3B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914865D-3404-4E99-AAEB-560672165C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077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62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6096003" y="2646506"/>
            <a:ext cx="6098400" cy="4212000"/>
          </a:xfrm>
          <a:prstGeom prst="rect">
            <a:avLst/>
          </a:prstGeom>
          <a:solidFill>
            <a:srgbClr val="EDE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 15"/>
          <p:cNvSpPr/>
          <p:nvPr userDrawn="1"/>
        </p:nvSpPr>
        <p:spPr>
          <a:xfrm>
            <a:off x="1306" y="2646975"/>
            <a:ext cx="6098400" cy="4212000"/>
          </a:xfrm>
          <a:prstGeom prst="rect">
            <a:avLst/>
          </a:prstGeom>
          <a:solidFill>
            <a:srgbClr val="409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/>
          <p:cNvSpPr/>
          <p:nvPr userDrawn="1"/>
        </p:nvSpPr>
        <p:spPr>
          <a:xfrm>
            <a:off x="-1" y="1800971"/>
            <a:ext cx="6102000" cy="846980"/>
          </a:xfrm>
          <a:prstGeom prst="rect">
            <a:avLst/>
          </a:prstGeom>
          <a:solidFill>
            <a:srgbClr val="1583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/>
          <p:cNvSpPr/>
          <p:nvPr userDrawn="1"/>
        </p:nvSpPr>
        <p:spPr>
          <a:xfrm>
            <a:off x="6089120" y="1800970"/>
            <a:ext cx="6098400" cy="84698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5392"/>
            <a:ext cx="12192000" cy="8251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2242" y="1"/>
            <a:ext cx="7632000" cy="1409699"/>
          </a:xfrm>
        </p:spPr>
        <p:txBody>
          <a:bodyPr>
            <a:normAutofit/>
          </a:bodyPr>
          <a:lstStyle>
            <a:lvl1pPr algn="ctr">
              <a:defRPr sz="5500">
                <a:solidFill>
                  <a:srgbClr val="409CE0"/>
                </a:solidFill>
                <a:latin typeface="Impact" panose="020B080603090205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pt-B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878" y="1801490"/>
            <a:ext cx="5400000" cy="835491"/>
          </a:xfrm>
          <a:noFill/>
          <a:ln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2800" b="1">
                <a:solidFill>
                  <a:srgbClr val="EDEDE3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336" y="2657994"/>
            <a:ext cx="5400000" cy="375109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rgbClr val="EDEDE3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61656" y="1807296"/>
            <a:ext cx="5400000" cy="817970"/>
          </a:xfrm>
          <a:noFill/>
          <a:ln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2800" b="1">
                <a:solidFill>
                  <a:srgbClr val="EDEDE3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878" y="1795833"/>
            <a:ext cx="476250" cy="5062167"/>
          </a:xfrm>
          <a:prstGeom prst="rect">
            <a:avLst/>
          </a:prstGeom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AC47-3FB3-4DFE-AD68-EB86198FEA3B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65D-3404-4E99-AAEB-560672165C59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Content Placeholder 3"/>
          <p:cNvSpPr>
            <a:spLocks noGrp="1"/>
          </p:cNvSpPr>
          <p:nvPr>
            <p:ph sz="half" idx="13"/>
          </p:nvPr>
        </p:nvSpPr>
        <p:spPr>
          <a:xfrm>
            <a:off x="6462436" y="2648469"/>
            <a:ext cx="5400000" cy="375109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rgbClr val="409CD6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s-ES"/>
              <a:t>Editar los estilos de texto del patrón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355436"/>
            <a:ext cx="2095500" cy="986631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151" y="202907"/>
            <a:ext cx="2139372" cy="100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18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1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150" y="0"/>
            <a:ext cx="18478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263525"/>
            <a:ext cx="9067800" cy="1325563"/>
          </a:xfrm>
        </p:spPr>
        <p:txBody>
          <a:bodyPr>
            <a:normAutofit/>
          </a:bodyPr>
          <a:lstStyle>
            <a:lvl1pPr algn="ctr">
              <a:defRPr sz="5500">
                <a:solidFill>
                  <a:srgbClr val="409CD6"/>
                </a:solidFill>
                <a:latin typeface="Impact" panose="020B080603090205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pt-B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AC47-3FB3-4DFE-AD68-EB86198FEA3B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65D-3404-4E99-AAEB-560672165C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0536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bg>
      <p:bgPr>
        <a:solidFill>
          <a:srgbClr val="BDBD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AC47-3FB3-4DFE-AD68-EB86198FEA3B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65D-3404-4E99-AAEB-560672165C59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837" y="0"/>
            <a:ext cx="29051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9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bg>
      <p:bgPr>
        <a:solidFill>
          <a:srgbClr val="ED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2" y="2293030"/>
            <a:ext cx="4772025" cy="4564966"/>
          </a:xfrm>
          <a:prstGeom prst="rect">
            <a:avLst/>
          </a:prstGeom>
          <a:solidFill>
            <a:srgbClr val="409C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4772025" cy="2293034"/>
          </a:xfrm>
          <a:prstGeom prst="rect">
            <a:avLst/>
          </a:prstGeom>
          <a:solidFill>
            <a:srgbClr val="1583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4438649" cy="2293033"/>
          </a:xfrm>
          <a:noFill/>
          <a:ln>
            <a:noFill/>
          </a:ln>
        </p:spPr>
        <p:txBody>
          <a:bodyPr anchor="ctr" anchorCtr="0">
            <a:normAutofit/>
          </a:bodyPr>
          <a:lstStyle>
            <a:lvl1pPr algn="ctr">
              <a:defRPr sz="5500">
                <a:solidFill>
                  <a:srgbClr val="EDEDE3"/>
                </a:solidFill>
                <a:latin typeface="Impact" panose="020B080603090205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05400" y="1"/>
            <a:ext cx="7086600" cy="6286499"/>
          </a:xfrm>
        </p:spPr>
        <p:txBody>
          <a:bodyPr>
            <a:normAutofit/>
          </a:bodyPr>
          <a:lstStyle>
            <a:lvl1pPr marL="0" indent="0">
              <a:buNone/>
              <a:defRPr sz="3700">
                <a:solidFill>
                  <a:srgbClr val="409CD6"/>
                </a:solidFill>
                <a:latin typeface="Century Gothic" panose="020B0502020202020204" pitchFamily="34" charset="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419" sz="3700" dirty="0">
                <a:latin typeface="Century Gothic" panose="020B0502020202020204" pitchFamily="34" charset="0"/>
              </a:rPr>
              <a:t>	</a:t>
            </a:r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" y="2303581"/>
            <a:ext cx="4438649" cy="3982919"/>
          </a:xfrm>
          <a:noFill/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3300">
                <a:solidFill>
                  <a:srgbClr val="EDEDE3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AC47-3FB3-4DFE-AD68-EB86198FEA3B}" type="datetimeFigureOut">
              <a:rPr lang="pt-BR" smtClean="0"/>
              <a:t>12/08/2026</a:t>
            </a:fld>
            <a:endParaRPr lang="pt-BR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76211"/>
            <a:ext cx="514350" cy="6505575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865D-3404-4E99-AAEB-560672165C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920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bg>
      <p:bgPr>
        <a:solidFill>
          <a:srgbClr val="ED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293030"/>
            <a:ext cx="4772025" cy="4564966"/>
          </a:xfrm>
          <a:prstGeom prst="rect">
            <a:avLst/>
          </a:prstGeom>
          <a:solidFill>
            <a:srgbClr val="409C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4772025" cy="2293034"/>
          </a:xfrm>
          <a:prstGeom prst="rect">
            <a:avLst/>
          </a:prstGeom>
          <a:solidFill>
            <a:srgbClr val="1583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4410074" cy="2293033"/>
          </a:xfrm>
          <a:noFill/>
          <a:ln>
            <a:noFill/>
          </a:ln>
        </p:spPr>
        <p:txBody>
          <a:bodyPr anchor="ctr" anchorCtr="0">
            <a:normAutofit/>
          </a:bodyPr>
          <a:lstStyle>
            <a:lvl1pPr algn="ctr">
              <a:defRPr sz="5500">
                <a:solidFill>
                  <a:srgbClr val="EDEDE3"/>
                </a:solidFill>
                <a:latin typeface="Impact" panose="020B080603090205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2303585"/>
            <a:ext cx="4410076" cy="4041648"/>
          </a:xfrm>
          <a:noFill/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3300">
                <a:solidFill>
                  <a:srgbClr val="EDEDE3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AC47-3FB3-4DFE-AD68-EB86198FEA3B}" type="datetimeFigureOut">
              <a:rPr lang="pt-BR" smtClean="0"/>
              <a:t>12/08/2026</a:t>
            </a:fld>
            <a:endParaRPr lang="pt-BR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76211"/>
            <a:ext cx="514350" cy="6505575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5133974" y="0"/>
            <a:ext cx="7058026" cy="6345233"/>
          </a:xfrm>
        </p:spPr>
        <p:txBody>
          <a:bodyPr anchor="t"/>
          <a:lstStyle>
            <a:lvl1pPr algn="ctr">
              <a:defRPr>
                <a:solidFill>
                  <a:srgbClr val="BDBDBD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914865D-3404-4E99-AAEB-560672165C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51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">
    <p:bg>
      <p:bgPr>
        <a:solidFill>
          <a:srgbClr val="409C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8994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EDEDE3"/>
                </a:solidFill>
                <a:latin typeface="Impact" panose="020B080603090205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pt-BR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7775" y="0"/>
            <a:ext cx="3324225" cy="6858000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 rot="17100000">
            <a:off x="7633380" y="2843135"/>
            <a:ext cx="6278631" cy="76977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600">
                <a:solidFill>
                  <a:srgbClr val="409CD6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 rot="5400000">
            <a:off x="2545421" y="164176"/>
            <a:ext cx="4484955" cy="78994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3ECAC47-3FB3-4DFE-AD68-EB86198FEA3B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914865D-3404-4E99-AAEB-560672165C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7615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es">
    <p:bg>
      <p:bgPr>
        <a:solidFill>
          <a:srgbClr val="ED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52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7040000">
            <a:off x="-1284947" y="2651139"/>
            <a:ext cx="6235200" cy="1066523"/>
          </a:xfrm>
        </p:spPr>
        <p:txBody>
          <a:bodyPr>
            <a:normAutofit/>
          </a:bodyPr>
          <a:lstStyle>
            <a:lvl1pPr algn="ctr">
              <a:defRPr sz="4800">
                <a:solidFill>
                  <a:srgbClr val="EDEDE3"/>
                </a:solidFill>
                <a:latin typeface="Impact" panose="020B080603090205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pt-BR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950" y="0"/>
            <a:ext cx="2686050" cy="6858000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 rot="17040000">
            <a:off x="-2074" y="2823264"/>
            <a:ext cx="6048000" cy="1044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600">
                <a:solidFill>
                  <a:srgbClr val="409CD6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Vertical Text Placeholder 3"/>
          <p:cNvSpPr>
            <a:spLocks noGrp="1"/>
          </p:cNvSpPr>
          <p:nvPr>
            <p:ph type="body" orient="vert" sz="quarter" idx="14"/>
          </p:nvPr>
        </p:nvSpPr>
        <p:spPr>
          <a:xfrm>
            <a:off x="5019675" y="1285875"/>
            <a:ext cx="5019675" cy="4314825"/>
          </a:xfrm>
        </p:spPr>
        <p:txBody>
          <a:bodyPr vert="eaVert"/>
          <a:lstStyle>
            <a:lvl1pPr marL="0" indent="0">
              <a:buFontTx/>
              <a:buNone/>
              <a:defRPr>
                <a:solidFill>
                  <a:srgbClr val="409CD6"/>
                </a:solidFill>
              </a:defRPr>
            </a:lvl1pPr>
            <a:lvl2pPr marL="457200" indent="0">
              <a:buFontTx/>
              <a:buNone/>
              <a:defRPr>
                <a:solidFill>
                  <a:srgbClr val="409CD6"/>
                </a:solidFill>
              </a:defRPr>
            </a:lvl2pPr>
            <a:lvl3pPr marL="914400" indent="0">
              <a:buFontTx/>
              <a:buNone/>
              <a:defRPr>
                <a:solidFill>
                  <a:srgbClr val="409CD6"/>
                </a:solidFill>
              </a:defRPr>
            </a:lvl3pPr>
            <a:lvl4pPr marL="1371600" indent="0">
              <a:buFontTx/>
              <a:buNone/>
              <a:defRPr>
                <a:solidFill>
                  <a:srgbClr val="409CD6"/>
                </a:solidFill>
              </a:defRPr>
            </a:lvl4pPr>
            <a:lvl5pPr marL="1828800" indent="0">
              <a:buFontTx/>
              <a:buNone/>
              <a:defRPr>
                <a:solidFill>
                  <a:srgbClr val="409CD6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7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CAC47-3FB3-4DFE-AD68-EB86198FEA3B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4865D-3404-4E99-AAEB-560672165C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27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2" r:id="rId9"/>
    <p:sldLayoutId id="2147483661" r:id="rId10"/>
    <p:sldLayoutId id="21474836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45811"/>
            <a:ext cx="9144000" cy="864000"/>
          </a:xfrm>
        </p:spPr>
        <p:txBody>
          <a:bodyPr>
            <a:noAutofit/>
          </a:bodyPr>
          <a:lstStyle/>
          <a:p>
            <a:r>
              <a:rPr lang="es-ES_tradnl" sz="4000" dirty="0"/>
              <a:t>Aprendizaje basado en proyectos para la experimentación del aseguramiento de la calidad del software </a:t>
            </a:r>
            <a:endParaRPr lang="es-CR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35092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Curso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200" dirty="0" err="1"/>
              <a:t>Nombre</a:t>
            </a:r>
            <a:r>
              <a:rPr lang="en-US" sz="3200" dirty="0"/>
              <a:t>: </a:t>
            </a:r>
            <a:r>
              <a:rPr lang="es-MX" sz="3200" dirty="0"/>
              <a:t>Aseguramiento de la calidad del software</a:t>
            </a:r>
            <a:endParaRPr lang="es-CR" sz="32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200" dirty="0"/>
              <a:t>Carrera: </a:t>
            </a:r>
            <a:r>
              <a:rPr lang="es-ES_tradnl" sz="3200" dirty="0"/>
              <a:t>Ingeniería en Computación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CR" sz="3200" dirty="0"/>
              <a:t>Ubicación en el plan de estudios: VI semestre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CR" sz="3200" dirty="0"/>
              <a:t>Créditos: 3</a:t>
            </a:r>
          </a:p>
        </p:txBody>
      </p:sp>
    </p:spTree>
    <p:extLst>
      <p:ext uri="{BB962C8B-B14F-4D97-AF65-F5344CB8AC3E}">
        <p14:creationId xmlns:p14="http://schemas.microsoft.com/office/powerpoint/2010/main" val="1218179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47137" y="1955103"/>
            <a:ext cx="5400000" cy="461195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ES_tradnl" sz="2400" b="1" dirty="0"/>
              <a:t>Descripción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s-ES_tradnl" sz="2400" dirty="0"/>
              <a:t>Desarrollo de habilidades sociales como: trabajo en equipo, habilidades de comunicación, análisis ético e investigación.</a:t>
            </a:r>
          </a:p>
          <a:p>
            <a:pPr algn="just"/>
            <a:r>
              <a:rPr lang="es-ES" sz="2400" b="1" dirty="0"/>
              <a:t>Justificación</a:t>
            </a:r>
          </a:p>
          <a:p>
            <a:pPr marL="392113" indent="-392113" algn="just">
              <a:buFont typeface="Arial" panose="020B0604020202020204" pitchFamily="34" charset="0"/>
              <a:buChar char="•"/>
            </a:pPr>
            <a:r>
              <a:rPr lang="es-ES" sz="2400" dirty="0"/>
              <a:t>Permite que los estudiantes adquieran un rol activo y favorece la motivación académica</a:t>
            </a:r>
          </a:p>
          <a:p>
            <a:pPr marL="392113" indent="-392113" algn="just">
              <a:buFont typeface="Arial" panose="020B0604020202020204" pitchFamily="34" charset="0"/>
              <a:buChar char="•"/>
            </a:pPr>
            <a:r>
              <a:rPr lang="es-ES" sz="2400" dirty="0"/>
              <a:t>Los estudiantes desarrollaran aprendizajes de conocimientos esenciales y habilidades para la vida a través de un extendido y estructurado proceso de indagación influido por el estudiante</a:t>
            </a:r>
          </a:p>
          <a:p>
            <a:pPr algn="just"/>
            <a:r>
              <a:rPr lang="es-ES" sz="2400" b="1" dirty="0"/>
              <a:t>Duración</a:t>
            </a:r>
          </a:p>
          <a:p>
            <a:pPr marL="392113" indent="-392113" algn="just">
              <a:buFont typeface="Arial" panose="020B0604020202020204" pitchFamily="34" charset="0"/>
              <a:buChar char="•"/>
            </a:pPr>
            <a:r>
              <a:rPr lang="es-ES" sz="2500" dirty="0"/>
              <a:t>14 semanas</a:t>
            </a:r>
            <a:endParaRPr lang="en-US" sz="25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Estrategia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3156" y="1952241"/>
            <a:ext cx="5534880" cy="461481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ES_tradnl" sz="1800" b="1" dirty="0"/>
              <a:t>Objetivo general</a:t>
            </a:r>
            <a:endParaRPr lang="es-CR" sz="1800" dirty="0"/>
          </a:p>
          <a:p>
            <a:pPr algn="just"/>
            <a:r>
              <a:rPr lang="es-ES" sz="1800" dirty="0"/>
              <a:t>Experimentar los procesos de calidad del software mediante la realización de actividades de planeación, validación y verificación, para la producción de artefactos y sistemas que satisfagan los requerimientos en forma oportuna y económica.</a:t>
            </a:r>
            <a:endParaRPr lang="es-CR" sz="1800" dirty="0"/>
          </a:p>
          <a:p>
            <a:pPr algn="just"/>
            <a:r>
              <a:rPr lang="es-ES" sz="1800" dirty="0"/>
              <a:t> </a:t>
            </a:r>
            <a:r>
              <a:rPr lang="es-ES_tradnl" sz="1800" b="1" dirty="0"/>
              <a:t>Objetivos específicos</a:t>
            </a:r>
            <a:endParaRPr lang="es-CR" sz="1800" dirty="0"/>
          </a:p>
          <a:p>
            <a:pPr marL="360363" indent="-307975" algn="just">
              <a:buFont typeface="Arial" panose="020B0604020202020204" pitchFamily="34" charset="0"/>
              <a:buChar char="•"/>
            </a:pPr>
            <a:r>
              <a:rPr lang="es-ES" sz="1800" dirty="0"/>
              <a:t>Aplicar métodos de aseguramiento y control de la calidad del software, integrados a planes de proyectos, mediante la escogencia de procedimientos y técnicas apropiados, para una adecuada gestión y cobertura en la evaluación de productos de software.</a:t>
            </a:r>
            <a:endParaRPr lang="es-CR" sz="1800" dirty="0"/>
          </a:p>
          <a:p>
            <a:pPr marL="392113" indent="-392113" algn="just">
              <a:buFont typeface="Arial" panose="020B0604020202020204" pitchFamily="34" charset="0"/>
              <a:buChar char="•"/>
            </a:pPr>
            <a:r>
              <a:rPr lang="es-ES" sz="1800" dirty="0"/>
              <a:t>Examinar productos de software, mediante la aplicación de técnicas de evaluación apoyadas por herramientas, para la generación de mediciones informativas sobre su calidad.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05405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rcador de contenido 3">
            <a:extLst>
              <a:ext uri="{FF2B5EF4-FFF2-40B4-BE49-F238E27FC236}">
                <a16:creationId xmlns:a16="http://schemas.microsoft.com/office/drawing/2014/main" id="{239B2776-CDF1-4BAA-9AD6-238A8A1070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252616"/>
              </p:ext>
            </p:extLst>
          </p:nvPr>
        </p:nvGraphicFramePr>
        <p:xfrm>
          <a:off x="-574964" y="1236373"/>
          <a:ext cx="12150436" cy="5339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811A5C75-7F9E-4A2B-AB53-D2B19BFD68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83439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500" b="1" dirty="0" err="1">
                <a:latin typeface="Impact" panose="020B0806030902050204" pitchFamily="34" charset="0"/>
              </a:rPr>
              <a:t>Fases</a:t>
            </a:r>
            <a:endParaRPr lang="en-US" sz="5500" b="1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163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80EE073-2F84-4860-8FBA-D5F9885CD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590231"/>
              </p:ext>
            </p:extLst>
          </p:nvPr>
        </p:nvGraphicFramePr>
        <p:xfrm>
          <a:off x="249382" y="1123898"/>
          <a:ext cx="11748654" cy="5605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8654">
                  <a:extLst>
                    <a:ext uri="{9D8B030D-6E8A-4147-A177-3AD203B41FA5}">
                      <a16:colId xmlns:a16="http://schemas.microsoft.com/office/drawing/2014/main" val="2546974008"/>
                    </a:ext>
                  </a:extLst>
                </a:gridCol>
              </a:tblGrid>
              <a:tr h="4774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800" dirty="0">
                          <a:effectLst/>
                        </a:rPr>
                        <a:t>Aspecto del documento</a:t>
                      </a: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903" marR="17903" marT="0" marB="0"/>
                </a:tc>
                <a:extLst>
                  <a:ext uri="{0D108BD9-81ED-4DB2-BD59-A6C34878D82A}">
                    <a16:rowId xmlns:a16="http://schemas.microsoft.com/office/drawing/2014/main" val="760075170"/>
                  </a:ext>
                </a:extLst>
              </a:tr>
              <a:tr h="47741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SzPts val="1100"/>
                        <a:buFontTx/>
                        <a:buNone/>
                      </a:pPr>
                      <a:r>
                        <a:rPr lang="es-ES_tradnl" sz="1600" dirty="0">
                          <a:effectLst/>
                        </a:rPr>
                        <a:t>1. Portada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903" marR="17903" marT="0" marB="0"/>
                </a:tc>
                <a:extLst>
                  <a:ext uri="{0D108BD9-81ED-4DB2-BD59-A6C34878D82A}">
                    <a16:rowId xmlns:a16="http://schemas.microsoft.com/office/drawing/2014/main" val="3442358811"/>
                  </a:ext>
                </a:extLst>
              </a:tr>
              <a:tr h="47741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SzPts val="1100"/>
                        <a:buFontTx/>
                        <a:buNone/>
                      </a:pPr>
                      <a:r>
                        <a:rPr lang="es-ES_tradnl" sz="1600" dirty="0">
                          <a:effectLst/>
                        </a:rPr>
                        <a:t>2. Tabla de contenidos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903" marR="17903" marT="0" marB="0"/>
                </a:tc>
                <a:extLst>
                  <a:ext uri="{0D108BD9-81ED-4DB2-BD59-A6C34878D82A}">
                    <a16:rowId xmlns:a16="http://schemas.microsoft.com/office/drawing/2014/main" val="3336942993"/>
                  </a:ext>
                </a:extLst>
              </a:tr>
              <a:tr h="47741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SzPts val="1100"/>
                        <a:buFontTx/>
                        <a:buNone/>
                      </a:pPr>
                      <a:r>
                        <a:rPr lang="es-ES_tradnl" sz="1600" dirty="0">
                          <a:effectLst/>
                        </a:rPr>
                        <a:t>3. Índice de tablas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903" marR="17903" marT="0" marB="0"/>
                </a:tc>
                <a:extLst>
                  <a:ext uri="{0D108BD9-81ED-4DB2-BD59-A6C34878D82A}">
                    <a16:rowId xmlns:a16="http://schemas.microsoft.com/office/drawing/2014/main" val="491318254"/>
                  </a:ext>
                </a:extLst>
              </a:tr>
              <a:tr h="437641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SzPts val="1100"/>
                        <a:buFontTx/>
                        <a:buNone/>
                      </a:pPr>
                      <a:r>
                        <a:rPr lang="es-ES_tradnl" sz="1600" dirty="0">
                          <a:effectLst/>
                        </a:rPr>
                        <a:t>4. Introducción</a:t>
                      </a:r>
                      <a:endParaRPr lang="es-CR" sz="1600" dirty="0">
                        <a:effectLst/>
                      </a:endParaRPr>
                    </a:p>
                    <a:p>
                      <a:pPr marL="228600" algn="just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_tradnl" sz="1400" dirty="0">
                          <a:effectLst/>
                        </a:rPr>
                        <a:t>La introducción de un texto es el primer contacto </a:t>
                      </a:r>
                      <a:r>
                        <a:rPr lang="es-CR" sz="1400" dirty="0">
                          <a:effectLst/>
                        </a:rPr>
                        <a:t>….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903" marR="17903" marT="0" marB="0"/>
                </a:tc>
                <a:extLst>
                  <a:ext uri="{0D108BD9-81ED-4DB2-BD59-A6C34878D82A}">
                    <a16:rowId xmlns:a16="http://schemas.microsoft.com/office/drawing/2014/main" val="4083175121"/>
                  </a:ext>
                </a:extLst>
              </a:tr>
              <a:tr h="119352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SzPts val="1100"/>
                        <a:buFontTx/>
                        <a:buNone/>
                      </a:pPr>
                      <a:r>
                        <a:rPr lang="es-ES_tradnl" sz="1600" dirty="0">
                          <a:effectLst/>
                        </a:rPr>
                        <a:t>5. Especificaciones del software</a:t>
                      </a:r>
                      <a:endParaRPr lang="es-CR" sz="1600" dirty="0">
                        <a:effectLst/>
                      </a:endParaRPr>
                    </a:p>
                    <a:p>
                      <a:pPr marL="228600" algn="just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_tradnl" sz="1400" dirty="0">
                          <a:effectLst/>
                        </a:rPr>
                        <a:t>Corresponde a una lista individualizada del hardware y el software que utiliza la aplicación, incluyendo proveedores y versiones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903" marR="17903" marT="0" marB="0"/>
                </a:tc>
                <a:extLst>
                  <a:ext uri="{0D108BD9-81ED-4DB2-BD59-A6C34878D82A}">
                    <a16:rowId xmlns:a16="http://schemas.microsoft.com/office/drawing/2014/main" val="2213773260"/>
                  </a:ext>
                </a:extLst>
              </a:tr>
              <a:tr h="226769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SzPts val="1100"/>
                        <a:buFontTx/>
                        <a:buNone/>
                      </a:pPr>
                      <a:r>
                        <a:rPr lang="es-ES_tradnl" sz="1600" dirty="0">
                          <a:effectLst/>
                        </a:rPr>
                        <a:t>6. Descripción de requerimientos o historias de usuario</a:t>
                      </a:r>
                      <a:endParaRPr lang="es-CR" sz="1600" dirty="0">
                        <a:effectLst/>
                      </a:endParaRPr>
                    </a:p>
                    <a:p>
                      <a:pPr marL="228600" algn="just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_tradnl" sz="1400" dirty="0">
                          <a:effectLst/>
                        </a:rPr>
                        <a:t>Esta sección del Plan del proyecto contiene una lista de todos los requerimientos o las historias de usuarios que serán probados. Cualquier requerimiento</a:t>
                      </a:r>
                      <a:r>
                        <a:rPr lang="es-CR" sz="1400" dirty="0">
                          <a:effectLst/>
                        </a:rPr>
                        <a:t>…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903" marR="17903" marT="0" marB="0"/>
                </a:tc>
                <a:extLst>
                  <a:ext uri="{0D108BD9-81ED-4DB2-BD59-A6C34878D82A}">
                    <a16:rowId xmlns:a16="http://schemas.microsoft.com/office/drawing/2014/main" val="3977361398"/>
                  </a:ext>
                </a:extLst>
              </a:tr>
              <a:tr h="202899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SzPts val="1100"/>
                        <a:buFontTx/>
                        <a:buNone/>
                      </a:pPr>
                      <a:r>
                        <a:rPr lang="es-ES_tradnl" sz="1600" dirty="0">
                          <a:effectLst/>
                        </a:rPr>
                        <a:t>7. Problema</a:t>
                      </a:r>
                      <a:endParaRPr lang="es-CR" sz="1600" dirty="0">
                        <a:effectLst/>
                      </a:endParaRPr>
                    </a:p>
                    <a:p>
                      <a:pPr marL="228600" algn="just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_tradnl" sz="1400" dirty="0">
                          <a:effectLst/>
                        </a:rPr>
                        <a:t>Defina el problema por resolver en el proyecto, es importarte analizar en profundidad las causas y efectos que se encuentran relacionados directa e indirectamente con el problema planteado.</a:t>
                      </a:r>
                      <a:r>
                        <a:rPr lang="es-ES_tradnl" sz="1600" dirty="0">
                          <a:effectLst/>
                        </a:rPr>
                        <a:t> </a:t>
                      </a:r>
                      <a:r>
                        <a:rPr lang="es-ES_tradnl" sz="1400" dirty="0">
                          <a:effectLst/>
                        </a:rPr>
                        <a:t>Se le recomienda utilizar la estrategia de árbol de problemas.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903" marR="17903" marT="0" marB="0"/>
                </a:tc>
                <a:extLst>
                  <a:ext uri="{0D108BD9-81ED-4DB2-BD59-A6C34878D82A}">
                    <a16:rowId xmlns:a16="http://schemas.microsoft.com/office/drawing/2014/main" val="2677726062"/>
                  </a:ext>
                </a:extLst>
              </a:tr>
              <a:tr h="514845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SzPts val="1100"/>
                        <a:buFontTx/>
                        <a:buNone/>
                      </a:pPr>
                      <a:r>
                        <a:rPr lang="es-ES_tradnl" sz="1600" dirty="0">
                          <a:effectLst/>
                        </a:rPr>
                        <a:t>8. Objetivos, metas e indicadores</a:t>
                      </a:r>
                      <a:endParaRPr lang="es-CR" sz="1600" dirty="0">
                        <a:effectLst/>
                      </a:endParaRPr>
                    </a:p>
                    <a:p>
                      <a:pPr marL="228600" algn="just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_tradnl" sz="1400" dirty="0">
                          <a:effectLst/>
                        </a:rPr>
                        <a:t>Defina los objetivos del proyecto, que deben responder al problema planteado. Recuerde que cada objetivo debe comenzar con un verbo en infinitivo</a:t>
                      </a:r>
                      <a:r>
                        <a:rPr lang="es-CR" sz="1400" dirty="0">
                          <a:effectLst/>
                        </a:rPr>
                        <a:t> ….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903" marR="17903" marT="0" marB="0"/>
                </a:tc>
                <a:extLst>
                  <a:ext uri="{0D108BD9-81ED-4DB2-BD59-A6C34878D82A}">
                    <a16:rowId xmlns:a16="http://schemas.microsoft.com/office/drawing/2014/main" val="386680423"/>
                  </a:ext>
                </a:extLst>
              </a:tr>
              <a:tr h="512619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SzPts val="1100"/>
                        <a:buFontTx/>
                        <a:buNone/>
                      </a:pPr>
                      <a:r>
                        <a:rPr lang="es-ES_tradnl" sz="1600" dirty="0">
                          <a:effectLst/>
                        </a:rPr>
                        <a:t>9. Recursos disponibles</a:t>
                      </a:r>
                      <a:endParaRPr lang="es-CR" sz="1600" dirty="0">
                        <a:effectLst/>
                      </a:endParaRPr>
                    </a:p>
                    <a:p>
                      <a:pPr marL="228600" algn="just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_tradnl" sz="1400" dirty="0">
                          <a:effectLst/>
                        </a:rPr>
                        <a:t>Una de las actividades más importantes a la hora de dirigir un proyecto, es gestionar sus recursos. Y es que los recursos, juegan un papel vital para el éxito de cualquier proyecto. Un recurso es todo lo que se necesita para ejecutar una tarea o proyecto …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903" marR="17903" marT="0" marB="0"/>
                </a:tc>
                <a:extLst>
                  <a:ext uri="{0D108BD9-81ED-4DB2-BD59-A6C34878D82A}">
                    <a16:rowId xmlns:a16="http://schemas.microsoft.com/office/drawing/2014/main" val="34675585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SzPts val="1100"/>
                        <a:buFontTx/>
                        <a:buNone/>
                      </a:pPr>
                      <a:r>
                        <a:rPr lang="es-ES_tradnl" sz="1600" dirty="0">
                          <a:effectLst/>
                        </a:rPr>
                        <a:t>10. Cronograma de actividades</a:t>
                      </a:r>
                      <a:endParaRPr lang="es-CR" sz="1600" dirty="0">
                        <a:effectLst/>
                      </a:endParaRPr>
                    </a:p>
                    <a:p>
                      <a:pPr marL="228600" algn="just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_tradnl" sz="1400" dirty="0">
                          <a:effectLst/>
                        </a:rPr>
                        <a:t>Un cronograma de actividades es un gráfico en el que se especifican todas las tareas … 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903" marR="17903" marT="0" marB="0"/>
                </a:tc>
                <a:extLst>
                  <a:ext uri="{0D108BD9-81ED-4DB2-BD59-A6C34878D82A}">
                    <a16:rowId xmlns:a16="http://schemas.microsoft.com/office/drawing/2014/main" val="96857346"/>
                  </a:ext>
                </a:extLst>
              </a:tr>
              <a:tr h="799661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SzPts val="1100"/>
                        <a:buFontTx/>
                        <a:buNone/>
                      </a:pPr>
                      <a:r>
                        <a:rPr lang="es-ES_tradnl" sz="1600" dirty="0">
                          <a:effectLst/>
                        </a:rPr>
                        <a:t>11. Bibliografía</a:t>
                      </a:r>
                      <a:endParaRPr lang="es-CR" sz="16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_tradnl" sz="1400" dirty="0">
                          <a:effectLst/>
                        </a:rPr>
                        <a:t>Una referencia bibliográfica es el conjunto de elementos suficientemente detallados para identificar la fuente de la cual se extrae la información. Las referencias incluyen elementos esenciales y complementarios..</a:t>
                      </a:r>
                      <a:r>
                        <a:rPr lang="es-CR" sz="1400" dirty="0">
                          <a:effectLst/>
                        </a:rPr>
                        <a:t>.</a:t>
                      </a:r>
                      <a:r>
                        <a:rPr lang="es-ES_tradnl" sz="1400" dirty="0">
                          <a:effectLst/>
                        </a:rPr>
                        <a:t> </a:t>
                      </a:r>
                      <a:endParaRPr lang="es-CR" sz="16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_tradnl" sz="1400" dirty="0">
                          <a:effectLst/>
                        </a:rPr>
                        <a:t>Aunado a lo anterior, debe contemplar el uso de citas en el texto. Una cita es la mención a un texto, idea o frase ajena … 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903" marR="17903" marT="0" marB="0"/>
                </a:tc>
                <a:extLst>
                  <a:ext uri="{0D108BD9-81ED-4DB2-BD59-A6C34878D82A}">
                    <a16:rowId xmlns:a16="http://schemas.microsoft.com/office/drawing/2014/main" val="290620101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29943788-90B5-4F97-A9FB-CED5B646D9FB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8343900" cy="11450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500" b="1" dirty="0">
                <a:latin typeface="Impact" panose="020B0806030902050204" pitchFamily="34" charset="0"/>
              </a:rPr>
              <a:t>Plan del </a:t>
            </a:r>
            <a:r>
              <a:rPr lang="en-US" sz="5500" b="1" dirty="0" err="1">
                <a:latin typeface="Impact" panose="020B0806030902050204" pitchFamily="34" charset="0"/>
              </a:rPr>
              <a:t>proyecto</a:t>
            </a:r>
            <a:endParaRPr lang="en-US" sz="5500" b="1" dirty="0">
              <a:latin typeface="Impact" panose="020B0806030902050204" pitchFamily="34" charset="0"/>
            </a:endParaRPr>
          </a:p>
        </p:txBody>
      </p:sp>
      <p:sp>
        <p:nvSpPr>
          <p:cNvPr id="4" name="Explosión: 14 puntos 3">
            <a:extLst>
              <a:ext uri="{FF2B5EF4-FFF2-40B4-BE49-F238E27FC236}">
                <a16:creationId xmlns:a16="http://schemas.microsoft.com/office/drawing/2014/main" id="{B2126CC6-CD46-4032-A11D-44175DC45CA1}"/>
              </a:ext>
            </a:extLst>
          </p:cNvPr>
          <p:cNvSpPr/>
          <p:nvPr/>
        </p:nvSpPr>
        <p:spPr>
          <a:xfrm>
            <a:off x="7689273" y="129097"/>
            <a:ext cx="3893127" cy="2466109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Se tiene la descripción para cada entregable</a:t>
            </a:r>
          </a:p>
        </p:txBody>
      </p:sp>
    </p:spTree>
    <p:extLst>
      <p:ext uri="{BB962C8B-B14F-4D97-AF65-F5344CB8AC3E}">
        <p14:creationId xmlns:p14="http://schemas.microsoft.com/office/powerpoint/2010/main" val="204563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Evaluación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A60012A-C89F-38AA-A9F3-C3B286D2A46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42962" y="1934674"/>
            <a:ext cx="7220682" cy="389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54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1931C-9BFB-4CAC-A33F-83052C18B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Plan del proyecto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4C476B9-2132-4A1C-99D3-35CBECD4A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367396"/>
              </p:ext>
            </p:extLst>
          </p:nvPr>
        </p:nvGraphicFramePr>
        <p:xfrm>
          <a:off x="850087" y="1316617"/>
          <a:ext cx="10471981" cy="5522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0663">
                  <a:extLst>
                    <a:ext uri="{9D8B030D-6E8A-4147-A177-3AD203B41FA5}">
                      <a16:colId xmlns:a16="http://schemas.microsoft.com/office/drawing/2014/main" val="3956861217"/>
                    </a:ext>
                  </a:extLst>
                </a:gridCol>
                <a:gridCol w="707332">
                  <a:extLst>
                    <a:ext uri="{9D8B030D-6E8A-4147-A177-3AD203B41FA5}">
                      <a16:colId xmlns:a16="http://schemas.microsoft.com/office/drawing/2014/main" val="3119596976"/>
                    </a:ext>
                  </a:extLst>
                </a:gridCol>
                <a:gridCol w="833126">
                  <a:extLst>
                    <a:ext uri="{9D8B030D-6E8A-4147-A177-3AD203B41FA5}">
                      <a16:colId xmlns:a16="http://schemas.microsoft.com/office/drawing/2014/main" val="3793723178"/>
                    </a:ext>
                  </a:extLst>
                </a:gridCol>
                <a:gridCol w="516708">
                  <a:extLst>
                    <a:ext uri="{9D8B030D-6E8A-4147-A177-3AD203B41FA5}">
                      <a16:colId xmlns:a16="http://schemas.microsoft.com/office/drawing/2014/main" val="3374492782"/>
                    </a:ext>
                  </a:extLst>
                </a:gridCol>
                <a:gridCol w="1208411">
                  <a:extLst>
                    <a:ext uri="{9D8B030D-6E8A-4147-A177-3AD203B41FA5}">
                      <a16:colId xmlns:a16="http://schemas.microsoft.com/office/drawing/2014/main" val="4028595861"/>
                    </a:ext>
                  </a:extLst>
                </a:gridCol>
                <a:gridCol w="747782">
                  <a:extLst>
                    <a:ext uri="{9D8B030D-6E8A-4147-A177-3AD203B41FA5}">
                      <a16:colId xmlns:a16="http://schemas.microsoft.com/office/drawing/2014/main" val="2307294577"/>
                    </a:ext>
                  </a:extLst>
                </a:gridCol>
                <a:gridCol w="1147959">
                  <a:extLst>
                    <a:ext uri="{9D8B030D-6E8A-4147-A177-3AD203B41FA5}">
                      <a16:colId xmlns:a16="http://schemas.microsoft.com/office/drawing/2014/main" val="957220322"/>
                    </a:ext>
                  </a:extLst>
                </a:gridCol>
              </a:tblGrid>
              <a:tr h="1880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Ítem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Excelente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4</a:t>
                      </a:r>
                      <a:endParaRPr lang="es-CR" sz="14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Muy bueno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3</a:t>
                      </a:r>
                      <a:endParaRPr lang="es-CR" sz="14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Bueno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</a:t>
                      </a:r>
                      <a:endParaRPr lang="es-CR" sz="14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Requiere mejorar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</a:t>
                      </a:r>
                      <a:endParaRPr lang="es-CR" sz="14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Deficiente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s-ES_tradnl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Máximo puntaje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3696532215"/>
                  </a:ext>
                </a:extLst>
              </a:tr>
              <a:tr h="1880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El documento contiene todas las partes y está organizado de la manera solicitado. 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3195892876"/>
                  </a:ext>
                </a:extLst>
              </a:tr>
              <a:tr h="23179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En la introducción se explica con pertinencia de qué trata el documento, especificando las partes que los componen y una pequeña descripción de cada una de ellas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2416321920"/>
                  </a:ext>
                </a:extLst>
              </a:tr>
              <a:tr h="1880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Se especifica con precisión el hardware y software del sistema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4045339223"/>
                  </a:ext>
                </a:extLst>
              </a:tr>
              <a:tr h="1880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Está debidamente definidos los requerimientos del sistema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3502665804"/>
                  </a:ext>
                </a:extLst>
              </a:tr>
              <a:tr h="23179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Expone un problema social real que requiere de solución, lo contextualiza desde una perspectiva integral (social, educativo, político, económico, etc.).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3045189341"/>
                  </a:ext>
                </a:extLst>
              </a:tr>
              <a:tr h="1880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Determina las partes del problema, sus características y factores que los hacen posible.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2489044263"/>
                  </a:ext>
                </a:extLst>
              </a:tr>
              <a:tr h="23179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El objetivo general, ¿es claro y tienen relación con el problema? ¿es consistentes con la formulación del problema? ¿Está redactado usando un verbo infinitivo?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1403271411"/>
                  </a:ext>
                </a:extLst>
              </a:tr>
              <a:tr h="23179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Los objetivos específicos, ¿son consistentes con la sistematización del problema? ¿Operacionalizan el objetivo general?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1096939672"/>
                  </a:ext>
                </a:extLst>
              </a:tr>
              <a:tr h="1880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Se identifican adecuadamente los recursos disponibles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3505359848"/>
                  </a:ext>
                </a:extLst>
              </a:tr>
              <a:tr h="1880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Se plantea de forma correcta un cronograma de trabajo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2748314714"/>
                  </a:ext>
                </a:extLst>
              </a:tr>
              <a:tr h="1880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Presenta como mínimo 3 fuentes de consulta que no sean menores a un quinquenio de publicación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2.5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2772016647"/>
                  </a:ext>
                </a:extLst>
              </a:tr>
              <a:tr h="23179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Las referencias bibliográficas han sido registradas de acuerdo a los estándares internacionales (IEEE) y son relevantes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2.5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3066850508"/>
                  </a:ext>
                </a:extLst>
              </a:tr>
              <a:tr h="1880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Realiza las citas bibliográficas en sus aportes y respeta los derechos de autor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2377388515"/>
                  </a:ext>
                </a:extLst>
              </a:tr>
              <a:tr h="30906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Se mantiene un formato estándar durante todo el documento, entre algunos aspectos relevantes están el mismo tipo y tamaño de letra, los párrafos tienen el mismo espaciado e interlineado, entre otros.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577305802"/>
                  </a:ext>
                </a:extLst>
              </a:tr>
              <a:tr h="1880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Aplica durante todo el documento correctamente las reglas gramaticales y de acentuación.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1433986270"/>
                  </a:ext>
                </a:extLst>
              </a:tr>
              <a:tr h="18801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La redacción durante todo el documento tiene concordancia, coherencia y precisión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1772287387"/>
                  </a:ext>
                </a:extLst>
              </a:tr>
              <a:tr h="119762">
                <a:tc gridSpan="6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Total     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100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69" marR="34769" marT="0" marB="0"/>
                </a:tc>
                <a:extLst>
                  <a:ext uri="{0D108BD9-81ED-4DB2-BD59-A6C34878D82A}">
                    <a16:rowId xmlns:a16="http://schemas.microsoft.com/office/drawing/2014/main" val="904647439"/>
                  </a:ext>
                </a:extLst>
              </a:tr>
            </a:tbl>
          </a:graphicData>
        </a:graphic>
      </p:graphicFrame>
      <p:sp>
        <p:nvSpPr>
          <p:cNvPr id="5" name="Explosión: 14 puntos 4">
            <a:extLst>
              <a:ext uri="{FF2B5EF4-FFF2-40B4-BE49-F238E27FC236}">
                <a16:creationId xmlns:a16="http://schemas.microsoft.com/office/drawing/2014/main" id="{B16A80E5-0760-4CC0-9755-24C56517F42D}"/>
              </a:ext>
            </a:extLst>
          </p:cNvPr>
          <p:cNvSpPr/>
          <p:nvPr/>
        </p:nvSpPr>
        <p:spPr>
          <a:xfrm>
            <a:off x="7689273" y="129097"/>
            <a:ext cx="3893127" cy="2466109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Se tiene la rubrica para cada entregable</a:t>
            </a:r>
          </a:p>
        </p:txBody>
      </p:sp>
    </p:spTree>
    <p:extLst>
      <p:ext uri="{BB962C8B-B14F-4D97-AF65-F5344CB8AC3E}">
        <p14:creationId xmlns:p14="http://schemas.microsoft.com/office/powerpoint/2010/main" val="342413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BE6EE-9253-4112-9637-8C9D8824A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Plan de pruebas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C168F59F-EE47-4AA2-B0F9-8A439A5C7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645733"/>
              </p:ext>
            </p:extLst>
          </p:nvPr>
        </p:nvGraphicFramePr>
        <p:xfrm>
          <a:off x="138542" y="1544008"/>
          <a:ext cx="11956473" cy="5030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614">
                  <a:extLst>
                    <a:ext uri="{9D8B030D-6E8A-4147-A177-3AD203B41FA5}">
                      <a16:colId xmlns:a16="http://schemas.microsoft.com/office/drawing/2014/main" val="1039916575"/>
                    </a:ext>
                  </a:extLst>
                </a:gridCol>
                <a:gridCol w="723146">
                  <a:extLst>
                    <a:ext uri="{9D8B030D-6E8A-4147-A177-3AD203B41FA5}">
                      <a16:colId xmlns:a16="http://schemas.microsoft.com/office/drawing/2014/main" val="511448760"/>
                    </a:ext>
                  </a:extLst>
                </a:gridCol>
                <a:gridCol w="848940">
                  <a:extLst>
                    <a:ext uri="{9D8B030D-6E8A-4147-A177-3AD203B41FA5}">
                      <a16:colId xmlns:a16="http://schemas.microsoft.com/office/drawing/2014/main" val="1305676045"/>
                    </a:ext>
                  </a:extLst>
                </a:gridCol>
                <a:gridCol w="529852">
                  <a:extLst>
                    <a:ext uri="{9D8B030D-6E8A-4147-A177-3AD203B41FA5}">
                      <a16:colId xmlns:a16="http://schemas.microsoft.com/office/drawing/2014/main" val="2359223191"/>
                    </a:ext>
                  </a:extLst>
                </a:gridCol>
                <a:gridCol w="687552">
                  <a:extLst>
                    <a:ext uri="{9D8B030D-6E8A-4147-A177-3AD203B41FA5}">
                      <a16:colId xmlns:a16="http://schemas.microsoft.com/office/drawing/2014/main" val="2758658065"/>
                    </a:ext>
                  </a:extLst>
                </a:gridCol>
                <a:gridCol w="763596">
                  <a:extLst>
                    <a:ext uri="{9D8B030D-6E8A-4147-A177-3AD203B41FA5}">
                      <a16:colId xmlns:a16="http://schemas.microsoft.com/office/drawing/2014/main" val="1360607975"/>
                    </a:ext>
                  </a:extLst>
                </a:gridCol>
                <a:gridCol w="1163773">
                  <a:extLst>
                    <a:ext uri="{9D8B030D-6E8A-4147-A177-3AD203B41FA5}">
                      <a16:colId xmlns:a16="http://schemas.microsoft.com/office/drawing/2014/main" val="2724012967"/>
                    </a:ext>
                  </a:extLst>
                </a:gridCol>
              </a:tblGrid>
              <a:tr h="2307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Ítem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5</a:t>
                      </a:r>
                      <a:endParaRPr lang="es-CR" sz="14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Excelente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4</a:t>
                      </a:r>
                      <a:endParaRPr lang="es-CR" sz="14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Muy bueno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3</a:t>
                      </a:r>
                      <a:endParaRPr lang="es-CR" sz="14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Bueno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2</a:t>
                      </a:r>
                      <a:endParaRPr lang="es-CR" sz="14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Requiere mejorar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</a:t>
                      </a:r>
                      <a:endParaRPr lang="es-CR" sz="14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Deficiente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s-ES_tradnl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Máximo puntaje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3368452576"/>
                  </a:ext>
                </a:extLst>
              </a:tr>
              <a:tr h="2307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El documento contiene todas las partes y está organizado de la manera solicitado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3505150593"/>
                  </a:ext>
                </a:extLst>
              </a:tr>
              <a:tr h="37933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La tabla de contenidos enlista todos los capítulos, divisiones y subdivisiones en el orden en que aparecen en el documento anotando los números de página correspondiente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2527518209"/>
                  </a:ext>
                </a:extLst>
              </a:tr>
              <a:tr h="28450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En la introducción se explica con pertinencia de qué trata el documento, especificando las partes que los componen y una pequeña descripción de cada una de ellas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3519340891"/>
                  </a:ext>
                </a:extLst>
              </a:tr>
              <a:tr h="28450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En la introducción, se presenta con precisión los objetivos del plan de pruebas. Estos objetivos están redactados usando verbos infinitivos.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3334301940"/>
                  </a:ext>
                </a:extLst>
              </a:tr>
              <a:tr h="2307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Se define de forma apropiada las técnicas de pruebas que permitan una definición correcta de los casos de prueba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20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3072904419"/>
                  </a:ext>
                </a:extLst>
              </a:tr>
              <a:tr h="28450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La estrategia de pruebas fue bien </a:t>
                      </a:r>
                      <a:r>
                        <a:rPr lang="es-ES_tradnl" sz="1200">
                          <a:effectLst/>
                        </a:rPr>
                        <a:t>planificada para llevar a la evaluación correcta del software. Utilizando 3 tipos diferentes de pruebas.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4182567143"/>
                  </a:ext>
                </a:extLst>
              </a:tr>
              <a:tr h="2307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Se definen correctamente al menos 60 casos de prueba, tanto para valores válidos como inválidos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20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277020730"/>
                  </a:ext>
                </a:extLst>
              </a:tr>
              <a:tr h="2307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Utiliza el formato proporcionado para definir cada caso de prueba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2028450854"/>
                  </a:ext>
                </a:extLst>
              </a:tr>
              <a:tr h="2307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Las conclusiones guardan correspondencia con los demás apartados del documento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161550631"/>
                  </a:ext>
                </a:extLst>
              </a:tr>
              <a:tr h="2307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Presenta como mínimo 3 fuentes de consulta que no sean menores a un quinquenio de publicación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2.5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1712855276"/>
                  </a:ext>
                </a:extLst>
              </a:tr>
              <a:tr h="28450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Las referencias bibliográficas han sido registradas de acuerdo a los estándares internacionales (IEEE) y son relevantes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2.5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1164213080"/>
                  </a:ext>
                </a:extLst>
              </a:tr>
              <a:tr h="2307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Realiza las citas bibliográficas en sus aportes y respeta los derechos de autor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4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4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4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4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4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400" dirty="0">
                          <a:effectLst/>
                        </a:rPr>
                        <a:t> 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2742465641"/>
                  </a:ext>
                </a:extLst>
              </a:tr>
              <a:tr h="37933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Se mantiene un formato estándar durante todo el documento, entre algunos aspectos relevantes están el mismo tipo y tamaño de letra, los párrafos tienen el mismo espaciado e interlineado, entre otros.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4078258714"/>
                  </a:ext>
                </a:extLst>
              </a:tr>
              <a:tr h="2307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Aplica durante todo el documento correctamente las reglas gramaticales y de acentuación.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3779468420"/>
                  </a:ext>
                </a:extLst>
              </a:tr>
              <a:tr h="23076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La redacción durante todo el documento tiene concordancia, coherencia y claridad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3333736109"/>
                  </a:ext>
                </a:extLst>
              </a:tr>
              <a:tr h="146994">
                <a:tc gridSpan="6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Total     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100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676" marR="42676" marT="0" marB="0"/>
                </a:tc>
                <a:extLst>
                  <a:ext uri="{0D108BD9-81ED-4DB2-BD59-A6C34878D82A}">
                    <a16:rowId xmlns:a16="http://schemas.microsoft.com/office/drawing/2014/main" val="4286970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201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008686-8DF9-47B3-9793-DAB10515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Proyecto de pruebas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6257FB5-579D-4792-8927-BCDD2F86493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68323034"/>
              </p:ext>
            </p:extLst>
          </p:nvPr>
        </p:nvGraphicFramePr>
        <p:xfrm>
          <a:off x="838200" y="2301961"/>
          <a:ext cx="872902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4647">
                  <a:extLst>
                    <a:ext uri="{9D8B030D-6E8A-4147-A177-3AD203B41FA5}">
                      <a16:colId xmlns:a16="http://schemas.microsoft.com/office/drawing/2014/main" val="1179343729"/>
                    </a:ext>
                  </a:extLst>
                </a:gridCol>
                <a:gridCol w="774954">
                  <a:extLst>
                    <a:ext uri="{9D8B030D-6E8A-4147-A177-3AD203B41FA5}">
                      <a16:colId xmlns:a16="http://schemas.microsoft.com/office/drawing/2014/main" val="3377096158"/>
                    </a:ext>
                  </a:extLst>
                </a:gridCol>
                <a:gridCol w="900748">
                  <a:extLst>
                    <a:ext uri="{9D8B030D-6E8A-4147-A177-3AD203B41FA5}">
                      <a16:colId xmlns:a16="http://schemas.microsoft.com/office/drawing/2014/main" val="207164590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4203521253"/>
                    </a:ext>
                  </a:extLst>
                </a:gridCol>
                <a:gridCol w="1276033">
                  <a:extLst>
                    <a:ext uri="{9D8B030D-6E8A-4147-A177-3AD203B41FA5}">
                      <a16:colId xmlns:a16="http://schemas.microsoft.com/office/drawing/2014/main" val="537299130"/>
                    </a:ext>
                  </a:extLst>
                </a:gridCol>
                <a:gridCol w="815404">
                  <a:extLst>
                    <a:ext uri="{9D8B030D-6E8A-4147-A177-3AD203B41FA5}">
                      <a16:colId xmlns:a16="http://schemas.microsoft.com/office/drawing/2014/main" val="2081566508"/>
                    </a:ext>
                  </a:extLst>
                </a:gridCol>
                <a:gridCol w="1215581">
                  <a:extLst>
                    <a:ext uri="{9D8B030D-6E8A-4147-A177-3AD203B41FA5}">
                      <a16:colId xmlns:a16="http://schemas.microsoft.com/office/drawing/2014/main" val="2198947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Ítem</a:t>
                      </a: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5</a:t>
                      </a:r>
                      <a:endParaRPr lang="es-CR" sz="18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Excelente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4</a:t>
                      </a:r>
                      <a:endParaRPr lang="es-CR" sz="18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Muy bueno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3</a:t>
                      </a:r>
                      <a:endParaRPr lang="es-CR" sz="18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Bueno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2</a:t>
                      </a:r>
                      <a:endParaRPr lang="es-CR" sz="18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Requiere mejorar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1</a:t>
                      </a:r>
                      <a:endParaRPr lang="es-CR" sz="18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Deficiente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Máximo puntaje</a:t>
                      </a: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4510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Cada método de prueba tiene únicamente un assert o expect</a:t>
                      </a: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5786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Nombra correctamente los métodos de prueba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3874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Utiliza los métodos pre/post en las clases de prueba eficientemente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4600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Los proyectos que contienen las pruebas automáticas funcionan correctamente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25</a:t>
                      </a: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1114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Todas las pruebas definidas son ejecutadas de manera simultánea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176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Las pruebas automatizadas corresponden al plan de pruebas definido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15</a:t>
                      </a: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090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 dirty="0">
                          <a:effectLst/>
                        </a:rPr>
                        <a:t>Al menos el 90% de los casos de pruebas son automatizadas.</a:t>
                      </a: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20</a:t>
                      </a: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669157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s-C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CR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374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803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EF04F-959D-4346-A30D-0E83DC8E2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Informe de pruebas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D802E35-AC33-4BA1-BF6E-FD3C2897E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828161"/>
              </p:ext>
            </p:extLst>
          </p:nvPr>
        </p:nvGraphicFramePr>
        <p:xfrm>
          <a:off x="128582" y="1355564"/>
          <a:ext cx="11986283" cy="5442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0539">
                  <a:extLst>
                    <a:ext uri="{9D8B030D-6E8A-4147-A177-3AD203B41FA5}">
                      <a16:colId xmlns:a16="http://schemas.microsoft.com/office/drawing/2014/main" val="2485127778"/>
                    </a:ext>
                  </a:extLst>
                </a:gridCol>
                <a:gridCol w="711848">
                  <a:extLst>
                    <a:ext uri="{9D8B030D-6E8A-4147-A177-3AD203B41FA5}">
                      <a16:colId xmlns:a16="http://schemas.microsoft.com/office/drawing/2014/main" val="417736840"/>
                    </a:ext>
                  </a:extLst>
                </a:gridCol>
                <a:gridCol w="837642">
                  <a:extLst>
                    <a:ext uri="{9D8B030D-6E8A-4147-A177-3AD203B41FA5}">
                      <a16:colId xmlns:a16="http://schemas.microsoft.com/office/drawing/2014/main" val="1254413016"/>
                    </a:ext>
                  </a:extLst>
                </a:gridCol>
                <a:gridCol w="518554">
                  <a:extLst>
                    <a:ext uri="{9D8B030D-6E8A-4147-A177-3AD203B41FA5}">
                      <a16:colId xmlns:a16="http://schemas.microsoft.com/office/drawing/2014/main" val="206782694"/>
                    </a:ext>
                  </a:extLst>
                </a:gridCol>
                <a:gridCol w="1212927">
                  <a:extLst>
                    <a:ext uri="{9D8B030D-6E8A-4147-A177-3AD203B41FA5}">
                      <a16:colId xmlns:a16="http://schemas.microsoft.com/office/drawing/2014/main" val="2885304854"/>
                    </a:ext>
                  </a:extLst>
                </a:gridCol>
                <a:gridCol w="752298">
                  <a:extLst>
                    <a:ext uri="{9D8B030D-6E8A-4147-A177-3AD203B41FA5}">
                      <a16:colId xmlns:a16="http://schemas.microsoft.com/office/drawing/2014/main" val="3000368513"/>
                    </a:ext>
                  </a:extLst>
                </a:gridCol>
                <a:gridCol w="1152475">
                  <a:extLst>
                    <a:ext uri="{9D8B030D-6E8A-4147-A177-3AD203B41FA5}">
                      <a16:colId xmlns:a16="http://schemas.microsoft.com/office/drawing/2014/main" val="2003162220"/>
                    </a:ext>
                  </a:extLst>
                </a:gridCol>
              </a:tblGrid>
              <a:tr h="2002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Ítem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5</a:t>
                      </a:r>
                      <a:endParaRPr lang="es-CR" sz="12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Excelente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4</a:t>
                      </a:r>
                      <a:endParaRPr lang="es-CR" sz="12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Muy bueno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3</a:t>
                      </a:r>
                      <a:endParaRPr lang="es-CR" sz="12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Bueno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2</a:t>
                      </a:r>
                      <a:endParaRPr lang="es-CR" sz="12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Requiere mejorar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1</a:t>
                      </a:r>
                      <a:endParaRPr lang="es-CR" sz="12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Deficiente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s-ES_tradnl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Máximo puntaje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3365218531"/>
                  </a:ext>
                </a:extLst>
              </a:tr>
              <a:tr h="2002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El documento contiene todas las partes y está organizado de la manera solicitado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1115758899"/>
                  </a:ext>
                </a:extLst>
              </a:tr>
              <a:tr h="3291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La tabla de contenidos enlista todos los capítulos, divisiones y subdivisiones en el orden en que aparecen en el documento anotando los números de página correspondiente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458124714"/>
                  </a:ext>
                </a:extLst>
              </a:tr>
              <a:tr h="3291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En la introducción se explica con precisión y de forma pertinente de qué trata el documento, especificando las partes que los componen y una pequeña descripción de cada una de ellas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44022471"/>
                  </a:ext>
                </a:extLst>
              </a:tr>
              <a:tr h="24684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En la introducción, se presenta claramente los objetivos del plan de pruebas. Estos objetivos están redactados usando verbos infinitivos.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1526316164"/>
                  </a:ext>
                </a:extLst>
              </a:tr>
              <a:tr h="24684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Analiza de forma correcta la información recopilada, a través de tablas y gráficos con el comentario interpretativo correspondiente. 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2950921622"/>
                  </a:ext>
                </a:extLst>
              </a:tr>
              <a:tr h="2002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Realiza valoraciones y/o emite juicios sobre la información obtenida de un modo riguroso.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4257670508"/>
                  </a:ext>
                </a:extLst>
              </a:tr>
              <a:tr h="24684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Expone/presenta los principales hallazgos de la búsqueda y tratamiento de la información realizado de manera clara, rigurosa y coherente respecto a los datos obtenidos.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7.5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364528197"/>
                  </a:ext>
                </a:extLst>
              </a:tr>
              <a:tr h="24684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Las reflexiones personales reconocen los conceptos éticos del ingeniero en computación con respeto a la calidad de software.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2568297160"/>
                  </a:ext>
                </a:extLst>
              </a:tr>
              <a:tr h="2002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Los resultados obtenidos tienen correspondencia con la estrategia de pruebas definida en el plan de pruebas.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1985723376"/>
                  </a:ext>
                </a:extLst>
              </a:tr>
              <a:tr h="2002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Se describen todos los defectos encontrados durante la ejecución de las pruebas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20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3964852294"/>
                  </a:ext>
                </a:extLst>
              </a:tr>
              <a:tr h="2002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Utiliza el formato proporcionado para definir los defectos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3022647562"/>
                  </a:ext>
                </a:extLst>
              </a:tr>
              <a:tr h="2002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Presenta como mínimo 3 fuentes de consulta que no sean menores a un quinquenio de publicación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2.5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4077460802"/>
                  </a:ext>
                </a:extLst>
              </a:tr>
              <a:tr h="24684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Las referencias bibliográficas han sido registradas de acuerdo a los estándares internacionales (APA) y son relevantes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2.5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3255602766"/>
                  </a:ext>
                </a:extLst>
              </a:tr>
              <a:tr h="2002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Realiza las citas bibliográficas en sus aportes y respeta los derechos de autor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2.5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1832714080"/>
                  </a:ext>
                </a:extLst>
              </a:tr>
              <a:tr h="32912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Se mantiene un formato estándar durante todo el documento, entre algunos aspectos relevantes están el mismo tipo y tamaño de letra, los párrafos tienen el mismo espaciado e interlineado, entre otros.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1417333210"/>
                  </a:ext>
                </a:extLst>
              </a:tr>
              <a:tr h="2002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Aplica durante todo el documento correctamente las reglas gramaticales y de acentuación.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1419677742"/>
                  </a:ext>
                </a:extLst>
              </a:tr>
              <a:tr h="2002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La redacción durante todo el documento tiene concordancia, coherencia y claridad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3208263355"/>
                  </a:ext>
                </a:extLst>
              </a:tr>
              <a:tr h="127537">
                <a:tc gridSpan="6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Total     </a:t>
                      </a:r>
                      <a:endParaRPr lang="es-C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100</a:t>
                      </a:r>
                      <a:endParaRPr lang="es-C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7" marR="37027" marT="0" marB="0"/>
                </a:tc>
                <a:extLst>
                  <a:ext uri="{0D108BD9-81ED-4DB2-BD59-A6C34878D82A}">
                    <a16:rowId xmlns:a16="http://schemas.microsoft.com/office/drawing/2014/main" val="381375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408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C325D-6D80-45D7-841F-3BD8F3EE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Presentación de proyecto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6E814DD-AB30-40E6-93F9-83E2765A3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376952"/>
              </p:ext>
            </p:extLst>
          </p:nvPr>
        </p:nvGraphicFramePr>
        <p:xfrm>
          <a:off x="678872" y="1523499"/>
          <a:ext cx="9747289" cy="5160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8337">
                  <a:extLst>
                    <a:ext uri="{9D8B030D-6E8A-4147-A177-3AD203B41FA5}">
                      <a16:colId xmlns:a16="http://schemas.microsoft.com/office/drawing/2014/main" val="933190869"/>
                    </a:ext>
                  </a:extLst>
                </a:gridCol>
                <a:gridCol w="740716">
                  <a:extLst>
                    <a:ext uri="{9D8B030D-6E8A-4147-A177-3AD203B41FA5}">
                      <a16:colId xmlns:a16="http://schemas.microsoft.com/office/drawing/2014/main" val="3705091957"/>
                    </a:ext>
                  </a:extLst>
                </a:gridCol>
                <a:gridCol w="866510">
                  <a:extLst>
                    <a:ext uri="{9D8B030D-6E8A-4147-A177-3AD203B41FA5}">
                      <a16:colId xmlns:a16="http://schemas.microsoft.com/office/drawing/2014/main" val="2018422338"/>
                    </a:ext>
                  </a:extLst>
                </a:gridCol>
                <a:gridCol w="547422">
                  <a:extLst>
                    <a:ext uri="{9D8B030D-6E8A-4147-A177-3AD203B41FA5}">
                      <a16:colId xmlns:a16="http://schemas.microsoft.com/office/drawing/2014/main" val="2506938847"/>
                    </a:ext>
                  </a:extLst>
                </a:gridCol>
                <a:gridCol w="1241795">
                  <a:extLst>
                    <a:ext uri="{9D8B030D-6E8A-4147-A177-3AD203B41FA5}">
                      <a16:colId xmlns:a16="http://schemas.microsoft.com/office/drawing/2014/main" val="1285130331"/>
                    </a:ext>
                  </a:extLst>
                </a:gridCol>
                <a:gridCol w="781166">
                  <a:extLst>
                    <a:ext uri="{9D8B030D-6E8A-4147-A177-3AD203B41FA5}">
                      <a16:colId xmlns:a16="http://schemas.microsoft.com/office/drawing/2014/main" val="1832332155"/>
                    </a:ext>
                  </a:extLst>
                </a:gridCol>
                <a:gridCol w="1181343">
                  <a:extLst>
                    <a:ext uri="{9D8B030D-6E8A-4147-A177-3AD203B41FA5}">
                      <a16:colId xmlns:a16="http://schemas.microsoft.com/office/drawing/2014/main" val="753336402"/>
                    </a:ext>
                  </a:extLst>
                </a:gridCol>
              </a:tblGrid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Ítem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5</a:t>
                      </a:r>
                      <a:endParaRPr lang="es-CR" sz="14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Excelente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4</a:t>
                      </a:r>
                      <a:endParaRPr lang="es-CR" sz="14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Muy bueno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3</a:t>
                      </a:r>
                      <a:endParaRPr lang="es-CR" sz="14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Bueno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2</a:t>
                      </a:r>
                      <a:endParaRPr lang="es-CR" sz="14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Requiere mejorar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1</a:t>
                      </a:r>
                      <a:endParaRPr lang="es-CR" sz="14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Deficiente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s-ES_tradnl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Máximo puntaje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1371488995"/>
                  </a:ext>
                </a:extLst>
              </a:tr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El tono y la velocidad de la voz son pertinentes durante toda la presentación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2475857937"/>
                  </a:ext>
                </a:extLst>
              </a:tr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Pronuncia con claridad y fluidez todas las ideas que expone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1821624754"/>
                  </a:ext>
                </a:extLst>
              </a:tr>
              <a:tr h="3615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Utiliza un vocabulario amplio, sin la repetición de palabras (muletillas)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2.5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3361916761"/>
                  </a:ext>
                </a:extLst>
              </a:tr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Tiene una correcta postura corporal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403229968"/>
                  </a:ext>
                </a:extLst>
              </a:tr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Toda la información que presenta se encuentra claramente relacionada con el tema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1089227445"/>
                  </a:ext>
                </a:extLst>
              </a:tr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Los resultados presentados son relevantes para la empresa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3936993393"/>
                  </a:ext>
                </a:extLst>
              </a:tr>
              <a:tr h="46929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Demuestra un amplio dominio de los contenidos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1842458138"/>
                  </a:ext>
                </a:extLst>
              </a:tr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La temática expuesta está organizada correctamente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2.5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3757608035"/>
                  </a:ext>
                </a:extLst>
              </a:tr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La duración de la presentación se ajusta al tiempo pactado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2582774655"/>
                  </a:ext>
                </a:extLst>
              </a:tr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El diseño de la presentación y los elementos visuales son atractivos y relacionados con el tema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1832344878"/>
                  </a:ext>
                </a:extLst>
              </a:tr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El comienzo de la presentación es llamativo y concluye con la idea principal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2361318925"/>
                  </a:ext>
                </a:extLst>
              </a:tr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La presentación personal es formal y correcta para la exposición.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15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326488429"/>
                  </a:ext>
                </a:extLst>
              </a:tr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Se visualiza un trabajo cooperativo entre los integrantes del grupo durante toda la presentación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4261379681"/>
                  </a:ext>
                </a:extLst>
              </a:tr>
              <a:tr h="2782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MX" sz="1200">
                          <a:effectLst/>
                        </a:rPr>
                        <a:t>Responde de forma acertada a las consultas planteadas.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164518587"/>
                  </a:ext>
                </a:extLst>
              </a:tr>
              <a:tr h="177256">
                <a:tc gridSpan="6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Total     </a:t>
                      </a:r>
                      <a:endParaRPr lang="es-C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100</a:t>
                      </a:r>
                      <a:endParaRPr lang="es-C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61" marR="51461" marT="0" marB="0"/>
                </a:tc>
                <a:extLst>
                  <a:ext uri="{0D108BD9-81ED-4DB2-BD59-A6C34878D82A}">
                    <a16:rowId xmlns:a16="http://schemas.microsoft.com/office/drawing/2014/main" val="2242387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428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19664-4992-47A0-A8E3-66AD67D0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Diario reflexivo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1979D6D-B8F4-4CFD-AD15-63DF2F790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476345"/>
              </p:ext>
            </p:extLst>
          </p:nvPr>
        </p:nvGraphicFramePr>
        <p:xfrm>
          <a:off x="838200" y="1463893"/>
          <a:ext cx="9939678" cy="5225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7778">
                  <a:extLst>
                    <a:ext uri="{9D8B030D-6E8A-4147-A177-3AD203B41FA5}">
                      <a16:colId xmlns:a16="http://schemas.microsoft.com/office/drawing/2014/main" val="982731732"/>
                    </a:ext>
                  </a:extLst>
                </a:gridCol>
                <a:gridCol w="693940">
                  <a:extLst>
                    <a:ext uri="{9D8B030D-6E8A-4147-A177-3AD203B41FA5}">
                      <a16:colId xmlns:a16="http://schemas.microsoft.com/office/drawing/2014/main" val="2208750878"/>
                    </a:ext>
                  </a:extLst>
                </a:gridCol>
                <a:gridCol w="849784">
                  <a:extLst>
                    <a:ext uri="{9D8B030D-6E8A-4147-A177-3AD203B41FA5}">
                      <a16:colId xmlns:a16="http://schemas.microsoft.com/office/drawing/2014/main" val="1507669894"/>
                    </a:ext>
                  </a:extLst>
                </a:gridCol>
                <a:gridCol w="504050">
                  <a:extLst>
                    <a:ext uri="{9D8B030D-6E8A-4147-A177-3AD203B41FA5}">
                      <a16:colId xmlns:a16="http://schemas.microsoft.com/office/drawing/2014/main" val="3144096529"/>
                    </a:ext>
                  </a:extLst>
                </a:gridCol>
                <a:gridCol w="1225069">
                  <a:extLst>
                    <a:ext uri="{9D8B030D-6E8A-4147-A177-3AD203B41FA5}">
                      <a16:colId xmlns:a16="http://schemas.microsoft.com/office/drawing/2014/main" val="1466590886"/>
                    </a:ext>
                  </a:extLst>
                </a:gridCol>
                <a:gridCol w="764440">
                  <a:extLst>
                    <a:ext uri="{9D8B030D-6E8A-4147-A177-3AD203B41FA5}">
                      <a16:colId xmlns:a16="http://schemas.microsoft.com/office/drawing/2014/main" val="1421933347"/>
                    </a:ext>
                  </a:extLst>
                </a:gridCol>
                <a:gridCol w="73156">
                  <a:extLst>
                    <a:ext uri="{9D8B030D-6E8A-4147-A177-3AD203B41FA5}">
                      <a16:colId xmlns:a16="http://schemas.microsoft.com/office/drawing/2014/main" val="4214605686"/>
                    </a:ext>
                  </a:extLst>
                </a:gridCol>
                <a:gridCol w="1091461">
                  <a:extLst>
                    <a:ext uri="{9D8B030D-6E8A-4147-A177-3AD203B41FA5}">
                      <a16:colId xmlns:a16="http://schemas.microsoft.com/office/drawing/2014/main" val="750217591"/>
                    </a:ext>
                  </a:extLst>
                </a:gridCol>
              </a:tblGrid>
              <a:tr h="34953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Ítem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5</a:t>
                      </a:r>
                      <a:endParaRPr lang="es-CR" sz="16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Excelente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4</a:t>
                      </a:r>
                      <a:endParaRPr lang="es-CR" sz="16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Muy bueno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3</a:t>
                      </a:r>
                      <a:endParaRPr lang="es-CR" sz="16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Bueno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2</a:t>
                      </a:r>
                      <a:endParaRPr lang="es-CR" sz="16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Requiere mejorar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1</a:t>
                      </a:r>
                      <a:endParaRPr lang="es-CR" sz="16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Deficiente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s-ES_tradnl" sz="12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Máximo puntaje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93944"/>
                  </a:ext>
                </a:extLst>
              </a:tr>
              <a:tr h="47887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Formato del documento - Se genera un documento bien organizado, fácil de seguir (índice, respeto de márgenes, colores diferenciados e identificados para cada componente del equipo, interlineados, formato regular en todo el documento), dando un “titular” a lo acontecido en la semana.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 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gridSpan="2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459372"/>
                  </a:ext>
                </a:extLst>
              </a:tr>
              <a:tr h="28732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Redacción – Carece de errores de gramaticales, ortográficos o de puntuación.  Párrafos bien redactados en un lenguaje comprensible.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gridSpan="2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274454"/>
                  </a:ext>
                </a:extLst>
              </a:tr>
              <a:tr h="47887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Esfuerzo y regularidad – Hay una reflexión publicada de forma quincenal, con su fecha marcada y de forma puntual. Regularidad en el trabajo (debe haber mínimo 8 entradas). Acepta, analiza y ejecuta las recomendaciones del profesor respecto al diario.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gridSpan="2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546097"/>
                  </a:ext>
                </a:extLst>
              </a:tr>
              <a:tr h="47887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Apropiación de aprendizaje – El contenido del diario refleja diálogo con experiencias propias y su propio proceso de aprendizaje durante las sesiones. Incorpora registros autocríticos donde se cuestionan sus aptitudes, actitudes y valores. 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gridSpan="2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30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819857"/>
                  </a:ext>
                </a:extLst>
              </a:tr>
              <a:tr h="57464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Búsqueda de información complementaria - Se interesa en buscar y verificar información en libros, revistas, e internet para mejorar sus ideas, conclusiones y recomendaciones acerca del tema. Para esto incluye citas y referencias bibliográficas de calidad y actuales, respetando los derechos de autor.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gridSpan="2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20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188329"/>
                  </a:ext>
                </a:extLst>
              </a:tr>
              <a:tr h="2330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Apoyo visual - Utiliza dibujos, gráficos, diagramas, videos, audios, entre otros para enfatizar el aprendizaje del tema.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gridSpan="2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15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020916"/>
                  </a:ext>
                </a:extLst>
              </a:tr>
              <a:tr h="28732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Accesibilidad – El diario reflexivo se encuentra publicado en un sitio adecuado y es accesible tanto para el profesor como para el resto de estudiantes.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 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gridSpan="2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5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003249"/>
                  </a:ext>
                </a:extLst>
              </a:tr>
              <a:tr h="287322">
                <a:tc gridSpan="7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>
                          <a:effectLst/>
                        </a:rPr>
                        <a:t>Total     </a:t>
                      </a:r>
                      <a:endParaRPr lang="es-C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s-ES_tradnl" sz="1200" dirty="0">
                          <a:effectLst/>
                        </a:rPr>
                        <a:t>100</a:t>
                      </a:r>
                      <a:endParaRPr lang="es-C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098" marR="43098" marT="0" marB="0"/>
                </a:tc>
                <a:extLst>
                  <a:ext uri="{0D108BD9-81ED-4DB2-BD59-A6C34878D82A}">
                    <a16:rowId xmlns:a16="http://schemas.microsoft.com/office/drawing/2014/main" val="3310653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279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2764448"/>
            <a:ext cx="9067800" cy="1325563"/>
          </a:xfrm>
        </p:spPr>
        <p:txBody>
          <a:bodyPr/>
          <a:lstStyle/>
          <a:p>
            <a:r>
              <a:rPr lang="en-US" dirty="0" err="1"/>
              <a:t>Seguimiento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2387"/>
      </p:ext>
    </p:extLst>
  </p:cSld>
  <p:clrMapOvr>
    <a:masterClrMapping/>
  </p:clrMapOvr>
</p:sld>
</file>

<file path=ppt/theme/theme1.xml><?xml version="1.0" encoding="utf-8"?>
<a:theme xmlns:a="http://schemas.openxmlformats.org/drawingml/2006/main" name="ID6 Desing Slides_V2_Academic_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D6 Desing Slides_V2_Academic_new.potx" id="{C1B3168B-05A8-4570-B318-7657C6367D39}" vid="{21528EBE-39FA-40BF-9E5F-19947BB39A5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40f1d0-9e09-4ee1-af1a-40e8f5a5830d">
      <Terms xmlns="http://schemas.microsoft.com/office/infopath/2007/PartnerControls"/>
    </lcf76f155ced4ddcb4097134ff3c332f>
    <TaxCatchAll xmlns="7862606f-3335-4726-8ea7-7d6574bc1e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9CE79E1917CA44A8D700A68A55BF3A1" ma:contentTypeVersion="13" ma:contentTypeDescription="Crear nuevo documento." ma:contentTypeScope="" ma:versionID="4e82126ebb2de31684cdbef0b37540f4">
  <xsd:schema xmlns:xsd="http://www.w3.org/2001/XMLSchema" xmlns:xs="http://www.w3.org/2001/XMLSchema" xmlns:p="http://schemas.microsoft.com/office/2006/metadata/properties" xmlns:ns2="b540f1d0-9e09-4ee1-af1a-40e8f5a5830d" xmlns:ns3="7862606f-3335-4726-8ea7-7d6574bc1ea5" targetNamespace="http://schemas.microsoft.com/office/2006/metadata/properties" ma:root="true" ma:fieldsID="5b6dffde20e6c1961197702f3b254c21" ns2:_="" ns3:_="">
    <xsd:import namespace="b540f1d0-9e09-4ee1-af1a-40e8f5a5830d"/>
    <xsd:import namespace="7862606f-3335-4726-8ea7-7d6574bc1e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TaxCatchAll" minOccurs="0"/>
                <xsd:element ref="ns2:MediaServiceOCR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40f1d0-9e09-4ee1-af1a-40e8f5a583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526b8547-2968-49f4-998e-dc1b97ecf8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2606f-3335-4726-8ea7-7d6574bc1ea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c0128fd7-4d0d-4a54-91e1-6e82d79d7633}" ma:internalName="TaxCatchAll" ma:showField="CatchAllData" ma:web="7862606f-3335-4726-8ea7-7d6574bc1e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D35EF2-E4D3-45A5-A809-AAE0D5262E07}">
  <ds:schemaRefs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b540f1d0-9e09-4ee1-af1a-40e8f5a5830d"/>
    <ds:schemaRef ds:uri="http://schemas.microsoft.com/office/infopath/2007/PartnerControls"/>
    <ds:schemaRef ds:uri="http://www.w3.org/XML/1998/namespace"/>
    <ds:schemaRef ds:uri="7862606f-3335-4726-8ea7-7d6574bc1ea5"/>
  </ds:schemaRefs>
</ds:datastoreItem>
</file>

<file path=customXml/itemProps2.xml><?xml version="1.0" encoding="utf-8"?>
<ds:datastoreItem xmlns:ds="http://schemas.openxmlformats.org/officeDocument/2006/customXml" ds:itemID="{1F9EAEAE-65FA-48C4-A37D-87C5E2B162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40f1d0-9e09-4ee1-af1a-40e8f5a5830d"/>
    <ds:schemaRef ds:uri="7862606f-3335-4726-8ea7-7d6574bc1e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E518D3-B828-4715-8C7D-EAC0A6D02C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académica (diseño de lápices y cuadernos)</Template>
  <TotalTime>16</TotalTime>
  <Words>2716</Words>
  <Application>Microsoft Office PowerPoint</Application>
  <PresentationFormat>Panorámica</PresentationFormat>
  <Paragraphs>726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ID6 Desing Slides_V2_Academic_1</vt:lpstr>
      <vt:lpstr>Aprendizaje basado en proyectos para la experimentación del aseguramiento de la calidad del software </vt:lpstr>
      <vt:lpstr>Curso</vt:lpstr>
      <vt:lpstr>Estrategia</vt:lpstr>
      <vt:lpstr>Presentación de PowerPoint</vt:lpstr>
      <vt:lpstr>Presentación de PowerPoint</vt:lpstr>
      <vt:lpstr>Evaluación</vt:lpstr>
      <vt:lpstr>Plan del proyecto</vt:lpstr>
      <vt:lpstr>Plan de pruebas</vt:lpstr>
      <vt:lpstr>Proyecto de pruebas</vt:lpstr>
      <vt:lpstr>Informe de pruebas</vt:lpstr>
      <vt:lpstr>Presentación de proyecto</vt:lpstr>
      <vt:lpstr>Diario reflexivo</vt:lpstr>
      <vt:lpstr>Seguimiento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Marcos Antonio Rodriguez Ovares</cp:lastModifiedBy>
  <cp:revision>15</cp:revision>
  <dcterms:created xsi:type="dcterms:W3CDTF">2020-11-20T16:51:19Z</dcterms:created>
  <dcterms:modified xsi:type="dcterms:W3CDTF">2026-08-12T15:49:31Z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0x010100B9CE79E1917CA44A8D700A68A55BF3A1</vt:lpwstr>
  </property>
</Properties>
</file>